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Play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oXeKPXO1n53g+999k1haFX0g3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033133-A106-4E10-A3C9-CFF4516EA3C2}">
  <a:tblStyle styleId="{80033133-A106-4E10-A3C9-CFF4516EA3C2}" styleName="Table_0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2F4"/>
          </a:solidFill>
        </a:fill>
      </a:tcStyle>
    </a:wholeTbl>
    <a:band1H>
      <a:tcTxStyle/>
      <a:tcStyle>
        <a:fill>
          <a:solidFill>
            <a:srgbClr val="E0E4E9"/>
          </a:solidFill>
        </a:fill>
      </a:tcStyle>
    </a:band1H>
    <a:band2H>
      <a:tcTxStyle/>
    </a:band2H>
    <a:band1V>
      <a:tcTxStyle/>
      <a:tcStyle>
        <a:fill>
          <a:solidFill>
            <a:srgbClr val="E0E4E9"/>
          </a:solidFill>
        </a:fill>
      </a:tcStyle>
    </a:band1V>
    <a:band2V>
      <a:tcTxStyle/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lay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Play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d35481bc02a00b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5d35481bc02a00b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d35481bc02a00b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5d35481bc02a00b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d35481bc02a00b1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h5d35481bc02a00b1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2ac118f1279bbe2_1_3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2ac118f1279bbe2_1_3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2ac118f1279bbe2_1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2ac118f1279bbe2_1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2ac118f1279bbe2_1_4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2ac118f1279bbe2_1_4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2ac118f1279bbe2_1_4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2ac118f1279bbe2_1_4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2ac118f1279bbe2_1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2ac118f1279bbe2_1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2ac118f1279bbe2_1_4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h2ac118f1279bbe2_1_4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2ac118f1279bbe2_1_4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2ac118f1279bbe2_1_4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914400" y="2393950"/>
            <a:ext cx="103632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22"/>
          <p:cNvSpPr txBox="1"/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" type="body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2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2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2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2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3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" type="body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21"/>
          <p:cNvSpPr/>
          <p:nvPr/>
        </p:nvSpPr>
        <p:spPr>
          <a:xfrm>
            <a:off x="812800" y="1566864"/>
            <a:ext cx="10610851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2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789712" y="25306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000"/>
              <a:buFont typeface="Verdana"/>
              <a:buNone/>
            </a:pPr>
            <a:r>
              <a:rPr b="1" lang="en-US" sz="400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ShadowTrace: AI Based Intrution Detection Game — REVIEW 2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84700" y="5183900"/>
            <a:ext cx="438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Dr. S. Bhuvana</a:t>
            </a:r>
            <a:endParaRPr b="1"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Assistant Professor(SG)</a:t>
            </a:r>
            <a:endParaRPr b="1"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476425" y="5183900"/>
            <a:ext cx="5308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Grisha P - 2116241901030</a:t>
            </a:r>
            <a:endParaRPr b="1"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Nandhini V - 2116241901063</a:t>
            </a:r>
            <a:endParaRPr b="1"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333" y="980728"/>
            <a:ext cx="10515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/>
              <a:buNone/>
            </a:pPr>
            <a:r>
              <a:rPr b="1" lang="en-US" sz="28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Department of Computer Science and Engineering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/>
              <a:buNone/>
            </a:pPr>
            <a:r>
              <a:rPr b="1" lang="en-US" sz="28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(Cyber Security)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t/>
            </a:r>
            <a:endParaRPr b="1" sz="280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C:\Users\REC\Downloads\REC_Logo_Color_PNG_RGB.png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933074" cy="108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1631504" y="1412776"/>
            <a:ext cx="101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CS23533– Foundations of Artificial Intelligence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873101" y="1916832"/>
            <a:ext cx="160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2026-2027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755650" y="1752600"/>
            <a:ext cx="10668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Problem: Develop a top-down stealth game in which the player must collect three evidence items and escape without being caught by a security guard.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Existing challenge: A guard following a fixed, predictable route makes stealth gameplay easy to exploit.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Proposed solution: Use AI techniques to create a guard that reacts to player noise, detects the player through line of sight, and navigates around obstacles.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Motivation: Demonstrate practical applications of Artificial Intelligence through an interactive game.</a:t>
            </a:r>
            <a:endParaRPr sz="2400"/>
          </a:p>
        </p:txBody>
      </p:sp>
      <p:sp>
        <p:nvSpPr>
          <p:cNvPr id="104" name="Google Shape;104;p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5d35481bc02a00b1_0_1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110" name="Google Shape;110;h5d35481bc02a00b1_0_1"/>
          <p:cNvSpPr txBox="1"/>
          <p:nvPr>
            <p:ph idx="1" type="body"/>
          </p:nvPr>
        </p:nvSpPr>
        <p:spPr>
          <a:xfrm>
            <a:off x="766225" y="1374950"/>
            <a:ext cx="106680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Significance: The project combines game development, intelligent decision-making, pathfinding, and adversarial search in a small, understandable environment.</a:t>
            </a:r>
            <a:endParaRPr sz="2400"/>
          </a:p>
        </p:txBody>
      </p:sp>
      <p:sp>
        <p:nvSpPr>
          <p:cNvPr id="111" name="Google Shape;111;h5d35481bc02a00b1_0_1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Develop a compact, grid-based stealth game environment.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Allow the player to collect three evidence items and reach the exit.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Implement a Finite State Machine (FSM) for the guard with four states: Patrol, Investigate, Chase, and Return.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Use noise events and line-of-sight checks to detect player activity.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Apply A* pathfinding to navigate around obstacles.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 Incorporate Minimax with Alpha–Beta pruning into the decision-planning component.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18" name="Google Shape;118;p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5d35481bc02a00b1_0_7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124" name="Google Shape;124;h5d35481bc02a00b1_0_7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7. Evaluate the guard's behaviour using repeatable gameplay test scenarios.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**Expected outcome:** An interactive prototype demonstrating AI-driven guard behaviour and a clear player objective.</a:t>
            </a:r>
            <a:endParaRPr sz="2400"/>
          </a:p>
        </p:txBody>
      </p:sp>
      <p:sp>
        <p:nvSpPr>
          <p:cNvPr id="125" name="Google Shape;125;h5d35481bc02a00b1_0_7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Refined the project scope to one map, one security guard, three evidence items, and one exit.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Defined the gameplay sequence: Explore → Collect Evidence → Avoid Guard → Escape.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Identified the guard's four behaviour states and their intended transitions.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Planned the integration of noise detection, line-of-sight detection, FSM, and A* pathfinding.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Identified Minimax with Alpha–Beta pruning as the decision-planning component.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- Defined the modules required for implementation and testing.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2" name="Google Shape;132;p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4" ty="0" sy="100004"/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d35481bc02a00b1_0_13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138" name="Google Shape;138;h5d35481bc02a00b1_0_13"/>
          <p:cNvSpPr txBox="1"/>
          <p:nvPr>
            <p:ph idx="1" type="body"/>
          </p:nvPr>
        </p:nvSpPr>
        <p:spPr>
          <a:xfrm>
            <a:off x="766226" y="1431625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**Current status:** The project design and implementation plan are outlined. Update this slide with the actual coding progress achieved since Review 1 before presenting.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9" name="Google Shape;139;h5d35481bc02a00b1_0_13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766233" y="304801"/>
            <a:ext cx="10668000" cy="533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Literature Survey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45" name="Google Shape;145;p5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7" name="Google Shape;147;p5"/>
          <p:cNvGraphicFramePr/>
          <p:nvPr/>
        </p:nvGraphicFramePr>
        <p:xfrm>
          <a:off x="555592" y="1503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{80033133-A106-4E10-A3C9-CFF4516EA3C2}</a:tableStyleId>
              </a:tblPr>
              <a:tblGrid>
                <a:gridCol w="288025"/>
                <a:gridCol w="1928925"/>
                <a:gridCol w="3205175"/>
                <a:gridCol w="2554850"/>
                <a:gridCol w="3112275"/>
              </a:tblGrid>
              <a:tr h="101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S. No.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Author(s) &amp; Year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Paper Title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Methodology / Algorithm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Limitations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</a:tr>
              <a:tr h="68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Hart, Nilsson &amp; Raphael (1968)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Formal Basis for the Heuristic Determination of Minimum Cost Paths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A* heuristic search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Efficiency depends on heuristic quality and search-space size.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</a:tr>
              <a:tr h="68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Millington &amp; Funge (2016)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Artificial Intelligence for Games, 3rd ed.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Game AI techniques, including pathfinding and state machines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General techniques must be adapted to the requirements of a specific game.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</a:tr>
              <a:tr h="68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Orkin (2006)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Three States and a Plan: The AI of F.E.A.R.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Goal-oriented planning and layered game AI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 approach addresses a more complex action game than this small prototype.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type="title"/>
          </p:nvPr>
        </p:nvSpPr>
        <p:spPr>
          <a:xfrm>
            <a:off x="766233" y="304801"/>
            <a:ext cx="10668000" cy="533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Literature Survey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0" i="0" sz="2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5" name="Google Shape;155;p6"/>
          <p:cNvGraphicFramePr/>
          <p:nvPr/>
        </p:nvGraphicFramePr>
        <p:xfrm>
          <a:off x="983432" y="17462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{80033133-A106-4E10-A3C9-CFF4516EA3C2}</a:tableStyleId>
              </a:tblPr>
              <a:tblGrid>
                <a:gridCol w="565700"/>
                <a:gridCol w="1871175"/>
                <a:gridCol w="3002575"/>
                <a:gridCol w="2393350"/>
                <a:gridCol w="2915525"/>
              </a:tblGrid>
              <a:tr h="66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S. No.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Author(s) &amp; Year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Paper Title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Methodology / Algorithm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Limitations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</a:tr>
              <a:tr h="85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Russell &amp; Norvig (2021)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Artificial Intelligence: A Modern Approach, 4th ed.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Adversarial search, Minimax, and Alpha–Beta pruning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Search cost can grow rapidly with branching factor and search depth.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</a:tr>
              <a:tr h="85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Rabin, ed. (2002)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AI Game Programming Wisdom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Practical game AI techniques and implementation patterns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Techniques may require modification and tuning for the target game.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 Research Gap and Project Response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61" name="Google Shape;161;p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096000" y="1752600"/>
            <a:ext cx="5452800" cy="12159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01150" spcFirstLastPara="1" rIns="164575" wrap="square" tIns="14630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2. Limitations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A small stealth game must balance believable guard behaviour with simple, understandable, and testable rules.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66225" y="3645025"/>
            <a:ext cx="5177400" cy="2120700"/>
          </a:xfrm>
          <a:prstGeom prst="roundRect">
            <a:avLst>
              <a:gd fmla="val 16667" name="adj"/>
            </a:avLst>
          </a:prstGeom>
          <a:solidFill>
            <a:srgbClr val="EBF2FA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201150" spcFirstLastPara="1" rIns="164575" wrap="square" tIns="14630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3. Refined Research Gap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Integrating noise-based investigation, visual detection, state-based guard behaviour, and obstacle-aware navigation into one compact stealth-game scenario.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47788" y="3411575"/>
            <a:ext cx="5349300" cy="23907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01150" spcFirstLastPara="1" rIns="164575" wrap="square" tIns="14630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4. Project Response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ShadowTrace proposes a modular design combining FSM, noise and line-of-sight sensing, A* pathfinding, and a Minimax/Alpha–Beta decision component. Implementation and evaluation will determine how effectively these components work together.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66233" y="1790774"/>
            <a:ext cx="5177400" cy="1584300"/>
          </a:xfrm>
          <a:prstGeom prst="roundRect">
            <a:avLst>
              <a:gd fmla="val 16667" name="adj"/>
            </a:avLst>
          </a:prstGeom>
          <a:solidFill>
            <a:srgbClr val="EBF2FA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201150" spcFirstLastPara="1" rIns="164575" wrap="square" tIns="14630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1. Literature Findings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Play"/>
                <a:ea typeface="Play"/>
                <a:cs typeface="Play"/>
                <a:sym typeface="Play"/>
              </a:rPr>
              <a:t>Game AI literature describes pathfinding, state machines, and decision-search algorithms as useful components for developing responsive game agents.</a:t>
            </a:r>
            <a:endParaRPr b="1" sz="1700">
              <a:solidFill>
                <a:srgbClr val="193054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System Architecture / Proposed System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71" name="Google Shape;171;p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4979" y="1660600"/>
            <a:ext cx="7902034" cy="4444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DFD Diagram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78" name="Google Shape;178;p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341" y="1629587"/>
            <a:ext cx="8012232" cy="4506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Methodology / Workflow Diagram</a:t>
            </a:r>
            <a:endParaRPr sz="2800"/>
          </a:p>
        </p:txBody>
      </p:sp>
      <p:sp>
        <p:nvSpPr>
          <p:cNvPr id="185" name="Google Shape;185;p1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459" y="1680975"/>
            <a:ext cx="7913667" cy="445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Tools and Technologies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92" name="Google Shape;192;p11"/>
          <p:cNvSpPr txBox="1"/>
          <p:nvPr>
            <p:ph idx="1" type="body"/>
          </p:nvPr>
        </p:nvSpPr>
        <p:spPr>
          <a:xfrm>
            <a:off x="762001" y="12954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Programming Language: Python (planned implementation)</a:t>
            </a:r>
            <a:endParaRPr sz="2400"/>
          </a:p>
          <a:p>
            <a:pPr indent="0" lvl="0" marL="469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5080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Framework / Library: Pygame for 2D graphics, keyboard input, game loops, and collision handling.</a:t>
            </a:r>
            <a:endParaRPr sz="2400"/>
          </a:p>
          <a:p>
            <a:pPr indent="0" lvl="0" marL="469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5080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Algorithms:</a:t>
            </a:r>
            <a:endParaRPr sz="2400"/>
          </a:p>
          <a:p>
            <a:pPr indent="0" lvl="0" marL="469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Finite State Machine (FSM)</a:t>
            </a:r>
            <a:endParaRPr sz="2400"/>
          </a:p>
          <a:p>
            <a:pPr indent="0" lvl="0" marL="469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A* pathfinding</a:t>
            </a:r>
            <a:endParaRPr sz="2400"/>
          </a:p>
          <a:p>
            <a:pPr indent="0" lvl="0" marL="469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Minimax search</a:t>
            </a:r>
            <a:endParaRPr sz="2400"/>
          </a:p>
          <a:p>
            <a:pPr indent="0" lvl="0" marL="469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/>
              <a:t>- Alpha–Beta pruning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93" name="Google Shape;193;p1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2ac118f1279bbe2_1_399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Tools and Technologies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99" name="Google Shape;199;h2ac118f1279bbe2_1_399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Software / Hardware / Dataset: Desktop development environment, a custom grid map, and manually designed gameplay test scenarios.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Justification: Python and Pygame are suitable for a small 2D game prototype. The selected algorithms demonstrate state-based behaviour, obstacle-aware navigation, and adversarial decision-making.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Update the language, framework, and tool details if your actual implementation uses a different stack.</a:t>
            </a:r>
            <a:endParaRPr sz="2400"/>
          </a:p>
        </p:txBody>
      </p:sp>
      <p:sp>
        <p:nvSpPr>
          <p:cNvPr id="200" name="Google Shape;200;h2ac118f1279bbe2_1_399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206" name="Google Shape;206;p12"/>
          <p:cNvSpPr txBox="1"/>
          <p:nvPr>
            <p:ph idx="1" type="body"/>
          </p:nvPr>
        </p:nvSpPr>
        <p:spPr>
          <a:xfrm>
            <a:off x="762001" y="162285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</a:t>
            </a:r>
            <a:r>
              <a:rPr lang="en-US" sz="2400"/>
              <a:t>Grid Map and Collision System — In Progress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Player Movement and Interaction — In Progress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Evidence Collection and Escape Condition — In Progress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Noise and Line-of-Sight Detection — Planned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Guard FSM — Planned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 A* Pathfinding — Planned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7. Minimax with Alpha–Beta Pruning — Planned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8. Testing and Result Logging — Pending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*Update each status to reflect the actual implementation. Do not label a module as completed until it has been implemented and verified.*</a:t>
            </a:r>
            <a:endParaRPr sz="2400"/>
          </a:p>
        </p:txBody>
      </p:sp>
      <p:sp>
        <p:nvSpPr>
          <p:cNvPr id="207" name="Google Shape;207;p1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2ac118f1279bbe2_1_405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213" name="Google Shape;213;h2ac118f1279bbe2_1_405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Module 1: World and Player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Purpose: Maintain the game map and allow the player to navigate the environment.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Inputs: Directional key presses and interaction commands.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Outputs: Updated player position and game-world state.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14" name="Google Shape;214;h2ac118f1279bbe2_1_405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Implementation Approach: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Represent the environment as a grid containing walkable cells and obstacles.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Validate player movement against walls and map boundaries.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Update evidence status when the player collects an item.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Track the number of collected items.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Allow escape when the required objective is satisfied.</a:t>
            </a:r>
            <a:endParaRPr sz="2400"/>
          </a:p>
          <a:p>
            <a:pPr indent="-317500" lvl="0" marL="469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Current Status: Design and module responsibilities are defined. Add a screenshot and testing evidence after implementation.</a:t>
            </a:r>
            <a:endParaRPr sz="2400"/>
          </a:p>
        </p:txBody>
      </p:sp>
      <p:sp>
        <p:nvSpPr>
          <p:cNvPr id="221" name="Google Shape;221;p1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755650" y="1752600"/>
            <a:ext cx="10668000" cy="53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Module 2: Guard AI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Inputs: Player position, noise events, line-of-sight result, and map obstacles.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Finite State Machine: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Patrol: Follow a predefined route.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Investigate: Move towards the last known noise location.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Chase: Pursue the player when visual detection succeeds.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Return: Resume patrol after the player is no longer detected.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8" name="Google Shape;228;p1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2ac118f1279bbe2_1_411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234" name="Google Shape;234;h2ac118f1279bbe2_1_411"/>
          <p:cNvSpPr txBox="1"/>
          <p:nvPr>
            <p:ph idx="1" type="body"/>
          </p:nvPr>
        </p:nvSpPr>
        <p:spPr>
          <a:xfrm>
            <a:off x="755650" y="1752600"/>
            <a:ext cx="10668000" cy="53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Pathfinding: A* calculates a route around obstacles.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Decision Component: Minimax with Alpha–Beta pruning is proposed for decision planning. The game states, available actions, utility values, and role of the adversarial search must be explicitly defined during implementation.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Current Status: Behaviour and module design are specified. Include code evidence and test observations once available.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35" name="Google Shape;235;h2ac118f1279bbe2_1_411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241" name="Google Shape;241;p15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Current Evaluation Status:</a:t>
            </a:r>
            <a:r>
              <a:rPr lang="en-US" sz="2400"/>
              <a:t>**</a:t>
            </a:r>
            <a:r>
              <a:rPr lang="en-US" sz="2400"/>
              <a:t> No measured gameplay results are available to report yet.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Planned Test Cases: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1. Player moves quietly outside the guard's field of view.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2. A noise event causes the guard to enter Investigate.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3. The player enters line of sight and triggers Chase.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4. The guard loses visual contact and returns to patrol.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5. The player collects all three evidence items and reaches the exit.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6. The player is caught before completing the objective.</a:t>
            </a:r>
            <a:endParaRPr sz="2400"/>
          </a:p>
        </p:txBody>
      </p:sp>
      <p:sp>
        <p:nvSpPr>
          <p:cNvPr id="242" name="Google Shape;242;p1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2ac118f1279bbe2_1_417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248" name="Google Shape;248;h2ac118f1279bbe2_1_417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Metrics to Record: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Correct FSM transitions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Validity of calculated routes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Detection response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Escape and caught outcomes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- Decision-making runtime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Baseline Comparison: Compare the AI-controlled guard with a fixed-route guard that does not use sensing or A* pathfinding.</a:t>
            </a:r>
            <a:endParaRPr sz="2400"/>
          </a:p>
        </p:txBody>
      </p:sp>
      <p:sp>
        <p:nvSpPr>
          <p:cNvPr id="249" name="Google Shape;249;h2ac118f1279bbe2_1_417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55" name="Google Shape;255;p1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56" name="Google Shape;256;p1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57" name="Google Shape;257;p1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230" y="1597025"/>
            <a:ext cx="6927983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2ac118f1279bbe2_1_424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64" name="Google Shape;264;h2ac118f1279bbe2_1_424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65" name="Google Shape;265;h2ac118f1279bbe2_1_424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66" name="Google Shape;266;h2ac118f1279bbe2_1_424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7" name="Google Shape;267;h2ac118f1279bbe2_1_4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312" y="1607013"/>
            <a:ext cx="6941276" cy="45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2ac118f1279bbe2_1_432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73" name="Google Shape;273;h2ac118f1279bbe2_1_432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74" name="Google Shape;274;h2ac118f1279bbe2_1_432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75" name="Google Shape;275;h2ac118f1279bbe2_1_432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6" name="Google Shape;276;h2ac118f1279bbe2_1_4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896" y="1596900"/>
            <a:ext cx="6942668" cy="45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2ac118f1279bbe2_1_448"/>
          <p:cNvSpPr txBox="1"/>
          <p:nvPr>
            <p:ph type="title"/>
          </p:nvPr>
        </p:nvSpPr>
        <p:spPr>
          <a:xfrm>
            <a:off x="766233" y="304801"/>
            <a:ext cx="10668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82" name="Google Shape;282;h2ac118f1279bbe2_1_448"/>
          <p:cNvSpPr txBox="1"/>
          <p:nvPr>
            <p:ph idx="10" type="dt"/>
          </p:nvPr>
        </p:nvSpPr>
        <p:spPr>
          <a:xfrm>
            <a:off x="8128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283" name="Google Shape;283;h2ac118f1279bbe2_1_448"/>
          <p:cNvSpPr txBox="1"/>
          <p:nvPr>
            <p:ph idx="11" type="ftr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284" name="Google Shape;284;h2ac118f1279bbe2_1_448"/>
          <p:cNvSpPr txBox="1"/>
          <p:nvPr>
            <p:ph idx="12" type="sldNum"/>
          </p:nvPr>
        </p:nvSpPr>
        <p:spPr>
          <a:xfrm>
            <a:off x="8737600" y="6245225"/>
            <a:ext cx="264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5" name="Google Shape;285;h2ac118f1279bbe2_1_4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751" y="1596900"/>
            <a:ext cx="6950398" cy="457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291" name="Google Shape;291;p17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 Guard behaviour: FSM-based state management.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Navigation: A* pathfinding.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Detection: combine noise and line of sight.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Algorithm integration: modular development and testing.</a:t>
            </a:r>
            <a:endParaRPr sz="24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92" name="Google Shape;292;p1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Work Plan Until Final Review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298" name="Google Shape;298;p18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Complete core game implementation.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Integrate and test AI algorithms.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Refine guard behaviour.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Conduct gameplay testing.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-US" sz="2400"/>
              <a:t>Document results and prepare final presentation.</a:t>
            </a:r>
            <a:endParaRPr sz="2400"/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99" name="Google Shape;299;p1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References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305" name="Google Shape;305;p19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Hart, Nilsson and Raphael (1968) — A* Search.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Millington and Funge (2016) — Artificial Intelligence for Games.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Orkin (2006) — Three States and a Plan: The AI of F.E.A.R.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Russell and Norvig (2021) — Artificial Intelligence: A Modern Approach.</a:t>
            </a:r>
            <a:endParaRPr sz="2400"/>
          </a:p>
          <a:p>
            <a:pPr indent="-469900" lvl="0" marL="469900" rtl="0" algn="l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/>
              <a:t>Rabin (2002) — AI Game Programming Wisdom.</a:t>
            </a:r>
            <a:endParaRPr sz="2400"/>
          </a:p>
        </p:txBody>
      </p:sp>
      <p:sp>
        <p:nvSpPr>
          <p:cNvPr id="306" name="Google Shape;306;p1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title"/>
          </p:nvPr>
        </p:nvSpPr>
        <p:spPr>
          <a:xfrm>
            <a:off x="711200" y="3168074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312" name="Google Shape;312;p2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</cp:coreProperties>
</file>