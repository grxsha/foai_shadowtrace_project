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"/>
  </p:sldMasterIdLst>
  <p:notesMasterIdLst>
    <p:notesMasterId r:id="rId2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19A1E-B44A-4919-83F2-189EF59B02EA}" v="34" dt="2026-09-11T17:47:58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6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51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7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7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8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1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8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2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82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2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78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9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2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8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0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80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0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8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7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7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A6A6-A7F2-4933-9075-6FF54A45A246}" type="datetime1">
              <a:rPr lang="en-IN" smtClean="0"/>
              <a:t>25-09-2026</a:t>
            </a:fld>
            <a:endParaRPr lang="en-IN"/>
          </a:p>
        </p:txBody>
      </p:sp>
      <p:sp>
        <p:nvSpPr>
          <p:cNvPr id="10487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293B-E7C6-4EBD-97F1-D064646A23FC}" type="datetime1">
              <a:rPr lang="en-IN" smtClean="0"/>
              <a:t>25-09-2026</a:t>
            </a:fld>
            <a:endParaRPr lang="en-IN"/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57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31AF-597A-4011-A47A-590DF41FF4CE}" type="datetime1">
              <a:rPr lang="en-IN" smtClean="0"/>
              <a:t>25-09-2026</a:t>
            </a:fld>
            <a:endParaRPr lang="en-IN"/>
          </a:p>
        </p:txBody>
      </p:sp>
      <p:sp>
        <p:nvSpPr>
          <p:cNvPr id="10487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51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52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8AE2A-4198-4CFC-8A3D-99793047056B}" type="datetime1">
              <a:rPr lang="en-IN" smtClean="0"/>
              <a:t>25-09-2026</a:t>
            </a:fld>
            <a:endParaRPr lang="en-IN"/>
          </a:p>
        </p:txBody>
      </p:sp>
      <p:sp>
        <p:nvSpPr>
          <p:cNvPr id="10487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72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73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7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75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7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E98C-4750-4DE8-AE7D-913096F33BA4}" type="datetime1">
              <a:rPr lang="en-IN" smtClean="0"/>
              <a:t>25-09-2026</a:t>
            </a:fld>
            <a:endParaRPr lang="en-IN"/>
          </a:p>
        </p:txBody>
      </p:sp>
      <p:sp>
        <p:nvSpPr>
          <p:cNvPr id="104877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7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6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4900D-B9D7-4B48-B03E-93C6BFA38FDB}" type="datetime1">
              <a:rPr lang="en-IN" smtClean="0"/>
              <a:t>25-09-2026</a:t>
            </a:fld>
            <a:endParaRPr lang="en-IN"/>
          </a:p>
        </p:txBody>
      </p:sp>
      <p:sp>
        <p:nvSpPr>
          <p:cNvPr id="10487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D085-2496-430D-A475-FB3919DB8C97}" type="datetime1">
              <a:rPr lang="en-IN" smtClean="0"/>
              <a:t>25-09-2026</a:t>
            </a:fld>
            <a:endParaRPr lang="en-IN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6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6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6D8D-D6A6-4D95-BF85-9EF8F0710FA7}" type="datetime1">
              <a:rPr lang="en-IN" smtClean="0"/>
              <a:t>25-09-2026</a:t>
            </a:fld>
            <a:endParaRPr lang="en-IN"/>
          </a:p>
        </p:txBody>
      </p:sp>
      <p:sp>
        <p:nvSpPr>
          <p:cNvPr id="10487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5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3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3A52-04AE-48F7-9FCF-E17B2D2BA4E4}" type="datetime1">
              <a:rPr lang="en-IN" smtClean="0"/>
              <a:t>25-09-2026</a:t>
            </a:fld>
            <a:endParaRPr lang="en-IN"/>
          </a:p>
        </p:txBody>
      </p:sp>
      <p:sp>
        <p:nvSpPr>
          <p:cNvPr id="10487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4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1855-FF8B-4A8F-B974-476D0BEFE359}" type="datetime1">
              <a:rPr lang="en-IN" smtClean="0"/>
              <a:t>25-09-2026</a:t>
            </a:fld>
            <a:endParaRPr lang="en-IN"/>
          </a:p>
        </p:txBody>
      </p:sp>
      <p:sp>
        <p:nvSpPr>
          <p:cNvPr id="10487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4AA9-A825-4631-9385-0F96794CA13F}" type="datetime1">
              <a:rPr lang="en-IN" smtClean="0"/>
              <a:t>25-09-2026</a:t>
            </a:fld>
            <a:endParaRPr lang="en-IN"/>
          </a:p>
        </p:txBody>
      </p:sp>
      <p:sp>
        <p:nvSpPr>
          <p:cNvPr id="10487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7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9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9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9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D9C9-F760-491D-BEB2-C9719B2DAA72}" type="datetime1">
              <a:rPr lang="en-IN" smtClean="0"/>
              <a:t>25-09-2026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4" descr="Home | Rajalakshmi Engineering College (REC)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305720" y="497541"/>
            <a:ext cx="3580560" cy="1155960"/>
          </a:xfrm>
          <a:prstGeom prst="rect">
            <a:avLst/>
          </a:prstGeom>
          <a:ln w="0">
            <a:noFill/>
          </a:ln>
        </p:spPr>
      </p:pic>
      <p:sp>
        <p:nvSpPr>
          <p:cNvPr id="1048584" name="PlaceHolder 1"/>
          <p:cNvSpPr txBox="1"/>
          <p:nvPr/>
        </p:nvSpPr>
        <p:spPr>
          <a:xfrm>
            <a:off x="1568040" y="1653502"/>
            <a:ext cx="9085164" cy="314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indent="0" algn="ctr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 sz="2700" b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Department of Cyber Security</a:t>
            </a:r>
            <a:endParaRPr kumimoji="0" lang="en-IN" sz="4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indent="0" algn="ctr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2026-2027- Odd Semester</a:t>
            </a:r>
          </a:p>
          <a:p>
            <a:pPr marL="0" indent="0" algn="ctr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 Year /V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CS23533-FOUNDATIONS OF ARTIFICIAL </a:t>
            </a:r>
            <a:r>
              <a:rPr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SHADOWTRACE: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Intrusion Detection Game</a:t>
            </a:r>
          </a:p>
          <a:p>
            <a:pPr marL="0" indent="0" algn="ctr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25.09.2026</a:t>
            </a:r>
          </a:p>
        </p:txBody>
      </p:sp>
      <p:sp>
        <p:nvSpPr>
          <p:cNvPr id="1048585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>
                <a:solidFill>
                  <a:srgbClr val="5F6973"/>
                </a:solidFill>
              </a:defRPr>
            </a:pPr>
            <a:r>
              <a:rPr dirty="0" err="1"/>
              <a:t>Rajalakshmi</a:t>
            </a:r>
            <a:r>
              <a:rPr dirty="0"/>
              <a:t> Engineering </a:t>
            </a:r>
            <a:r>
              <a:rPr dirty="0" err="1"/>
              <a:t>College,Department</a:t>
            </a:r>
            <a:r>
              <a:rPr dirty="0"/>
              <a:t> of Cyber Security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586" name="TextBox 14"/>
          <p:cNvSpPr txBox="1"/>
          <p:nvPr/>
        </p:nvSpPr>
        <p:spPr>
          <a:xfrm>
            <a:off x="4137821" y="4870784"/>
            <a:ext cx="39331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Calibri"/>
              </a:defRPr>
            </a:pPr>
            <a:r>
              <a:rPr dirty="0" err="1">
                <a:solidFill>
                  <a:schemeClr val="accent3">
                    <a:lumMod val="50000"/>
                  </a:schemeClr>
                </a:solidFill>
              </a:rPr>
              <a:t>Nandhini</a:t>
            </a:r>
            <a:r>
              <a:rPr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</a:rPr>
              <a:t>Velmurugan</a:t>
            </a:r>
            <a:r>
              <a:rPr dirty="0">
                <a:solidFill>
                  <a:schemeClr val="accent3">
                    <a:lumMod val="50000"/>
                  </a:schemeClr>
                </a:solidFill>
              </a:rPr>
              <a:t> (241901063)  | 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</a:rPr>
              <a:t>Grisha</a:t>
            </a:r>
            <a:r>
              <a:rPr dirty="0">
                <a:solidFill>
                  <a:schemeClr val="accent3">
                    <a:lumMod val="50000"/>
                  </a:schemeClr>
                </a:solidFill>
              </a:rPr>
              <a:t> P (241901030)</a:t>
            </a:r>
          </a:p>
          <a:p>
            <a:pPr algn="ctr"/>
            <a:r>
              <a:rPr sz="1200" dirty="0">
                <a:solidFill>
                  <a:schemeClr val="accent3">
                    <a:lumMod val="50000"/>
                  </a:schemeClr>
                </a:solidFill>
              </a:rPr>
              <a:t>Supervisor: Dr. S. </a:t>
            </a:r>
            <a:r>
              <a:rPr sz="1200" dirty="0" err="1">
                <a:solidFill>
                  <a:schemeClr val="accent3">
                    <a:lumMod val="50000"/>
                  </a:schemeClr>
                </a:solidFill>
              </a:rPr>
              <a:t>Bhuvana</a:t>
            </a:r>
            <a:r>
              <a:rPr sz="1200" dirty="0">
                <a:solidFill>
                  <a:schemeClr val="accent3">
                    <a:lumMod val="50000"/>
                  </a:schemeClr>
                </a:solidFill>
              </a:rPr>
              <a:t>, Assistant Professor [SG]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6" name="TextBox 2"/>
          <p:cNvSpPr txBox="1"/>
          <p:nvPr/>
        </p:nvSpPr>
        <p:spPr>
          <a:xfrm>
            <a:off x="502920" y="118872"/>
            <a:ext cx="1851987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Abstract</a:t>
            </a:r>
          </a:p>
        </p:txBody>
      </p:sp>
      <p:sp>
        <p:nvSpPr>
          <p:cNvPr id="1048597" name="TextBox 3"/>
          <p:cNvSpPr txBox="1"/>
          <p:nvPr/>
        </p:nvSpPr>
        <p:spPr>
          <a:xfrm>
            <a:off x="11292840" y="137160"/>
            <a:ext cx="28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48598" name="TextBox 4"/>
          <p:cNvSpPr txBox="1"/>
          <p:nvPr/>
        </p:nvSpPr>
        <p:spPr>
          <a:xfrm>
            <a:off x="685800" y="1097280"/>
            <a:ext cx="10789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smtClean="0"/>
              <a:t>The </a:t>
            </a:r>
            <a:r>
              <a:rPr dirty="0"/>
              <a:t>player collects 3 evidence items and reaches the exit without detection.</a:t>
            </a:r>
          </a:p>
          <a:p>
            <a:r>
              <a:rPr dirty="0"/>
              <a:t>An AI security guard patrols and investigates suspicious activity using limited information.</a:t>
            </a:r>
          </a:p>
          <a:p>
            <a:r>
              <a:rPr dirty="0" err="1"/>
              <a:t>Minimax</a:t>
            </a:r>
            <a:r>
              <a:rPr dirty="0"/>
              <a:t> + Alpha-Beta Pruning supports decisions, while A* handles navigation.</a:t>
            </a:r>
          </a:p>
          <a:p>
            <a:r>
              <a:rPr dirty="0"/>
              <a:t>FSM controls Patrol, Investigate, Chase and Return states.</a:t>
            </a:r>
          </a:p>
          <a:p>
            <a:r>
              <a:rPr dirty="0"/>
              <a:t>Line-of-sight and noise detection provide the guard's perception</a:t>
            </a:r>
            <a:r>
              <a:rPr dirty="0" smtClean="0"/>
              <a:t>.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1048599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1" name="TextBox 2"/>
          <p:cNvSpPr txBox="1"/>
          <p:nvPr/>
        </p:nvSpPr>
        <p:spPr>
          <a:xfrm>
            <a:off x="502920" y="118872"/>
            <a:ext cx="2893388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Problem Statement</a:t>
            </a:r>
          </a:p>
        </p:txBody>
      </p:sp>
      <p:sp>
        <p:nvSpPr>
          <p:cNvPr id="1048602" name="TextBox 3"/>
          <p:cNvSpPr txBox="1"/>
          <p:nvPr/>
        </p:nvSpPr>
        <p:spPr>
          <a:xfrm>
            <a:off x="11292840" y="137160"/>
            <a:ext cx="2971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48603" name="TextBox 4"/>
          <p:cNvSpPr txBox="1"/>
          <p:nvPr/>
        </p:nvSpPr>
        <p:spPr>
          <a:xfrm>
            <a:off x="685800" y="1097280"/>
            <a:ext cx="10789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Basic NPCs often depend on predefined paths or direct player chasing.</a:t>
            </a:r>
          </a:p>
          <a:p>
            <a:r>
              <a:rPr dirty="0" smtClean="0"/>
              <a:t>They may </a:t>
            </a:r>
            <a:r>
              <a:rPr dirty="0"/>
              <a:t>continuously know the player's position and lack realistic perception.</a:t>
            </a:r>
          </a:p>
          <a:p>
            <a:r>
              <a:rPr dirty="0"/>
              <a:t>Simple patrol and chase behaviors provide limited decision-making.</a:t>
            </a:r>
          </a:p>
          <a:p>
            <a:r>
              <a:rPr dirty="0"/>
              <a:t>A smarter NPC should react to observable events such as noise and line of sight.</a:t>
            </a:r>
          </a:p>
          <a:p>
            <a:r>
              <a:rPr dirty="0"/>
              <a:t>The project combines perception, decision-making, behavior and </a:t>
            </a:r>
            <a:r>
              <a:rPr dirty="0" err="1"/>
              <a:t>pathfinding</a:t>
            </a:r>
            <a:r>
              <a:rPr dirty="0"/>
              <a:t> in one AI system</a:t>
            </a:r>
            <a:r>
              <a:rPr dirty="0" smtClean="0"/>
              <a:t>.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048604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6" name="TextBox 2"/>
          <p:cNvSpPr txBox="1"/>
          <p:nvPr/>
        </p:nvSpPr>
        <p:spPr>
          <a:xfrm>
            <a:off x="502920" y="118872"/>
            <a:ext cx="1652607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Motivation</a:t>
            </a:r>
          </a:p>
        </p:txBody>
      </p:sp>
      <p:sp>
        <p:nvSpPr>
          <p:cNvPr id="1048607" name="TextBox 3"/>
          <p:cNvSpPr txBox="1"/>
          <p:nvPr/>
        </p:nvSpPr>
        <p:spPr>
          <a:xfrm>
            <a:off x="11292840" y="137160"/>
            <a:ext cx="2971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48608" name="TextBox 4"/>
          <p:cNvSpPr txBox="1"/>
          <p:nvPr/>
        </p:nvSpPr>
        <p:spPr>
          <a:xfrm>
            <a:off x="685800" y="1097280"/>
            <a:ext cx="10789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Selected to demonstrate classical AI techniques through an interactive stealth game. </a:t>
            </a:r>
            <a:endParaRPr lang="en-US" dirty="0" smtClean="0"/>
          </a:p>
          <a:p>
            <a:r>
              <a:rPr dirty="0" smtClean="0"/>
              <a:t>The </a:t>
            </a:r>
            <a:r>
              <a:rPr dirty="0"/>
              <a:t>project combines </a:t>
            </a:r>
            <a:r>
              <a:rPr dirty="0" err="1"/>
              <a:t>pathfinding</a:t>
            </a:r>
            <a:r>
              <a:rPr dirty="0"/>
              <a:t>, perception and decision-making instead of continuous tracking.</a:t>
            </a:r>
          </a:p>
          <a:p>
            <a:r>
              <a:rPr dirty="0"/>
              <a:t>The guard reacts to noise and visual detection, creating strategic gameplay.</a:t>
            </a:r>
          </a:p>
          <a:p>
            <a:r>
              <a:rPr dirty="0" err="1"/>
              <a:t>Minimax</a:t>
            </a:r>
            <a:r>
              <a:rPr dirty="0"/>
              <a:t> and Alpha-Beta Pruning provide a measurable decision-making component.</a:t>
            </a:r>
          </a:p>
          <a:p>
            <a:r>
              <a:rPr dirty="0"/>
              <a:t>The system offers a practical and manageable demonstration of AI in game development</a:t>
            </a:r>
            <a:r>
              <a:rPr dirty="0" smtClean="0"/>
              <a:t>.</a:t>
            </a:r>
            <a:r>
              <a:rPr lang="en-US" dirty="0"/>
              <a:t> </a:t>
            </a:r>
          </a:p>
          <a:p>
            <a:endParaRPr dirty="0"/>
          </a:p>
        </p:txBody>
      </p:sp>
      <p:sp>
        <p:nvSpPr>
          <p:cNvPr id="1048609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11" name="TextBox 2"/>
          <p:cNvSpPr txBox="1"/>
          <p:nvPr/>
        </p:nvSpPr>
        <p:spPr>
          <a:xfrm>
            <a:off x="502920" y="118872"/>
            <a:ext cx="1663075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Objectives</a:t>
            </a:r>
          </a:p>
        </p:txBody>
      </p:sp>
      <p:sp>
        <p:nvSpPr>
          <p:cNvPr id="1048612" name="TextBox 3"/>
          <p:cNvSpPr txBox="1"/>
          <p:nvPr/>
        </p:nvSpPr>
        <p:spPr>
          <a:xfrm>
            <a:off x="11292840" y="137160"/>
            <a:ext cx="2971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48613" name="TextBox 4"/>
          <p:cNvSpPr txBox="1"/>
          <p:nvPr/>
        </p:nvSpPr>
        <p:spPr>
          <a:xfrm>
            <a:off x="685800" y="1097280"/>
            <a:ext cx="10789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/>
              <a:t>To </a:t>
            </a:r>
            <a:r>
              <a:rPr lang="en-US" dirty="0"/>
              <a:t>develop an intelligent security guard for a top-down stealth game. </a:t>
            </a:r>
            <a:endParaRPr lang="en-US" dirty="0" smtClean="0"/>
          </a:p>
          <a:p>
            <a:r>
              <a:rPr dirty="0" smtClean="0"/>
              <a:t>To </a:t>
            </a:r>
            <a:r>
              <a:rPr dirty="0"/>
              <a:t>implement A* search for efficient NPC navigation.</a:t>
            </a:r>
          </a:p>
          <a:p>
            <a:r>
              <a:rPr dirty="0"/>
              <a:t>To use FSM for Patrol, Investigate, Chase and Return behaviors.</a:t>
            </a:r>
          </a:p>
          <a:p>
            <a:r>
              <a:rPr dirty="0"/>
              <a:t>To apply </a:t>
            </a:r>
            <a:r>
              <a:rPr dirty="0" err="1"/>
              <a:t>Minimax</a:t>
            </a:r>
            <a:r>
              <a:rPr dirty="0"/>
              <a:t> with Alpha-Beta Pruning for decision-making.</a:t>
            </a:r>
          </a:p>
          <a:p>
            <a:r>
              <a:rPr dirty="0"/>
              <a:t>To implement line-of-sight and noise-based perception.</a:t>
            </a:r>
          </a:p>
          <a:p>
            <a:r>
              <a:rPr dirty="0"/>
              <a:t>To evaluate path length, nodes explored, decision time and response time</a:t>
            </a:r>
            <a:r>
              <a:rPr dirty="0" smtClean="0"/>
              <a:t>.</a:t>
            </a:r>
            <a:r>
              <a:rPr lang="en-US" dirty="0"/>
              <a:t> </a:t>
            </a:r>
          </a:p>
          <a:p>
            <a:endParaRPr dirty="0"/>
          </a:p>
        </p:txBody>
      </p:sp>
      <p:sp>
        <p:nvSpPr>
          <p:cNvPr id="1048614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16" name="TextBox 2"/>
          <p:cNvSpPr txBox="1"/>
          <p:nvPr/>
        </p:nvSpPr>
        <p:spPr>
          <a:xfrm>
            <a:off x="502920" y="118872"/>
            <a:ext cx="2600990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1048617" name="TextBox 3"/>
          <p:cNvSpPr txBox="1"/>
          <p:nvPr/>
        </p:nvSpPr>
        <p:spPr>
          <a:xfrm>
            <a:off x="11292840" y="137160"/>
            <a:ext cx="2971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graphicFrame>
        <p:nvGraphicFramePr>
          <p:cNvPr id="4194304" name="Table 4"/>
          <p:cNvGraphicFramePr>
            <a:graphicFrameLocks noGrp="1"/>
          </p:cNvGraphicFramePr>
          <p:nvPr/>
        </p:nvGraphicFramePr>
        <p:xfrm>
          <a:off x="411480" y="105156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r>
                        <a:t>S.No.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Author &amp; Year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Method / Technique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 Findings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Limitations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Hart et al. (1968)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A* Search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Heuristic search for minimum-cost paths.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Focused on pathfinding rather than game behavior.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Millington &amp; Funge (2016)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Game AI / FSM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Practical AI techniques for NPC behavior.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Broad techniques; not project-specific.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Yannakakis &amp; Togelius (2018)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Game AI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Covers intelligent agents and AI in games.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Broad coverage; implementation is application-dependent.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48618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20" name="TextBox 2"/>
          <p:cNvSpPr txBox="1"/>
          <p:nvPr/>
        </p:nvSpPr>
        <p:spPr>
          <a:xfrm>
            <a:off x="502920" y="118872"/>
            <a:ext cx="2392680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Existing System</a:t>
            </a:r>
          </a:p>
        </p:txBody>
      </p:sp>
      <p:sp>
        <p:nvSpPr>
          <p:cNvPr id="1048621" name="TextBox 3"/>
          <p:cNvSpPr txBox="1"/>
          <p:nvPr/>
        </p:nvSpPr>
        <p:spPr>
          <a:xfrm>
            <a:off x="11292840" y="137160"/>
            <a:ext cx="28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48622" name="TextBox 4"/>
          <p:cNvSpPr txBox="1"/>
          <p:nvPr/>
        </p:nvSpPr>
        <p:spPr>
          <a:xfrm>
            <a:off x="640080" y="1143000"/>
            <a:ext cx="5303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5F697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NPCs commonly use predefined paths, waypoints or direct player-following.</a:t>
            </a:r>
          </a:p>
          <a:p>
            <a:r>
              <a:rPr dirty="0"/>
              <a:t>Basic systems usually provide simple patrol and chase behaviors.</a:t>
            </a:r>
          </a:p>
          <a:p>
            <a:r>
              <a:rPr dirty="0"/>
              <a:t>The NPC may continuously know the player's location instead of using perception.</a:t>
            </a:r>
          </a:p>
          <a:p>
            <a:r>
              <a:rPr dirty="0"/>
              <a:t>Decision-making is limited and rarely considers possible future actions.</a:t>
            </a:r>
          </a:p>
          <a:p>
            <a:r>
              <a:rPr dirty="0"/>
              <a:t>Such systems provide less strategic gameplay and limited AI evaluation.</a:t>
            </a:r>
          </a:p>
        </p:txBody>
      </p:sp>
      <p:sp>
        <p:nvSpPr>
          <p:cNvPr id="1048623" name="Rounded Rectangle 5"/>
          <p:cNvSpPr/>
          <p:nvPr/>
        </p:nvSpPr>
        <p:spPr>
          <a:xfrm>
            <a:off x="6400800" y="1234440"/>
            <a:ext cx="484632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endParaRPr/>
          </a:p>
        </p:txBody>
      </p:sp>
      <p:sp>
        <p:nvSpPr>
          <p:cNvPr id="1048624" name="Rounded Rectangle 6"/>
          <p:cNvSpPr/>
          <p:nvPr/>
        </p:nvSpPr>
        <p:spPr>
          <a:xfrm>
            <a:off x="6327648" y="1234440"/>
            <a:ext cx="5285232" cy="4526280"/>
          </a:xfrm>
          <a:prstGeom prst="roundRect">
            <a:avLst/>
          </a:prstGeom>
          <a:solidFill>
            <a:srgbClr val="F9FAFC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25" name="TextBox 7"/>
          <p:cNvSpPr txBox="1"/>
          <p:nvPr/>
        </p:nvSpPr>
        <p:spPr>
          <a:xfrm>
            <a:off x="6656832" y="1422400"/>
            <a:ext cx="1167775" cy="218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F3B59"/>
                </a:solidFill>
                <a:latin typeface="Aptos"/>
              </a:rPr>
              <a:t>BASIC NPC FLOW</a:t>
            </a:r>
          </a:p>
        </p:txBody>
      </p:sp>
      <p:sp>
        <p:nvSpPr>
          <p:cNvPr id="1048626" name="Rounded Rectangle 8"/>
          <p:cNvSpPr/>
          <p:nvPr/>
        </p:nvSpPr>
        <p:spPr>
          <a:xfrm>
            <a:off x="6720840" y="1737360"/>
            <a:ext cx="4480560" cy="566928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F67AB"/>
                </a:solidFill>
                <a:latin typeface="Aptos"/>
              </a:rPr>
              <a:t>PLAYER</a:t>
            </a:r>
          </a:p>
        </p:txBody>
      </p:sp>
      <p:sp>
        <p:nvSpPr>
          <p:cNvPr id="1048627" name="Rounded Rectangle 9"/>
          <p:cNvSpPr/>
          <p:nvPr/>
        </p:nvSpPr>
        <p:spPr>
          <a:xfrm>
            <a:off x="6720840" y="2578608"/>
            <a:ext cx="4480560" cy="566928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F67AB"/>
                </a:solidFill>
                <a:latin typeface="Aptos"/>
              </a:rPr>
              <a:t>NPC CHASE</a:t>
            </a:r>
          </a:p>
        </p:txBody>
      </p:sp>
      <p:sp>
        <p:nvSpPr>
          <p:cNvPr id="1048628" name="Rounded Rectangle 10"/>
          <p:cNvSpPr/>
          <p:nvPr/>
        </p:nvSpPr>
        <p:spPr>
          <a:xfrm>
            <a:off x="6720840" y="3419856"/>
            <a:ext cx="4480560" cy="658368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F67AB"/>
                </a:solidFill>
                <a:latin typeface="Aptos"/>
              </a:rPr>
              <a:t>PLAYER DETECTED</a:t>
            </a:r>
          </a:p>
        </p:txBody>
      </p:sp>
      <p:cxnSp>
        <p:nvCxnSpPr>
          <p:cNvPr id="3145728" name="Connector 11"/>
          <p:cNvCxnSpPr>
            <a:cxnSpLocks/>
          </p:cNvCxnSpPr>
          <p:nvPr/>
        </p:nvCxnSpPr>
        <p:spPr>
          <a:xfrm>
            <a:off x="8961120" y="2304288"/>
            <a:ext cx="0" cy="27432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or 12"/>
          <p:cNvCxnSpPr>
            <a:cxnSpLocks/>
          </p:cNvCxnSpPr>
          <p:nvPr/>
        </p:nvCxnSpPr>
        <p:spPr>
          <a:xfrm>
            <a:off x="8961120" y="3145536"/>
            <a:ext cx="0" cy="27432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29" name="TextBox 13"/>
          <p:cNvSpPr txBox="1"/>
          <p:nvPr/>
        </p:nvSpPr>
        <p:spPr>
          <a:xfrm>
            <a:off x="6903720" y="4170172"/>
            <a:ext cx="2999800" cy="218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4B5765"/>
                </a:solidFill>
                <a:latin typeface="Aptos"/>
              </a:rPr>
              <a:t>NPC directly follows the player's known 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0" name="Connector 33"/>
          <p:cNvCxnSpPr>
            <a:cxnSpLocks/>
          </p:cNvCxnSpPr>
          <p:nvPr/>
        </p:nvCxnSpPr>
        <p:spPr>
          <a:xfrm>
            <a:off x="9912096" y="2167128"/>
            <a:ext cx="0" cy="228600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30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31" name="TextBox 2"/>
          <p:cNvSpPr txBox="1"/>
          <p:nvPr/>
        </p:nvSpPr>
        <p:spPr>
          <a:xfrm>
            <a:off x="502920" y="118872"/>
            <a:ext cx="2664788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Proposed System</a:t>
            </a:r>
          </a:p>
        </p:txBody>
      </p:sp>
      <p:sp>
        <p:nvSpPr>
          <p:cNvPr id="1048632" name="TextBox 3"/>
          <p:cNvSpPr txBox="1"/>
          <p:nvPr/>
        </p:nvSpPr>
        <p:spPr>
          <a:xfrm>
            <a:off x="11292840" y="137160"/>
            <a:ext cx="2971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048633" name="TextBox 4"/>
          <p:cNvSpPr txBox="1"/>
          <p:nvPr/>
        </p:nvSpPr>
        <p:spPr>
          <a:xfrm>
            <a:off x="640080" y="1143000"/>
            <a:ext cx="5303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5F697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system combines perception, decision-making, behavior and navigation in one intelligent NPC.</a:t>
            </a:r>
          </a:p>
          <a:p>
            <a:r>
              <a:rPr dirty="0"/>
              <a:t>Noise or line-of-sight events are processed before an action is selected.</a:t>
            </a:r>
          </a:p>
          <a:p>
            <a:r>
              <a:rPr dirty="0" err="1"/>
              <a:t>Minimax</a:t>
            </a:r>
            <a:r>
              <a:rPr dirty="0"/>
              <a:t> + Alpha-Beta evaluates investigate, patrol and chase decisions.</a:t>
            </a:r>
          </a:p>
          <a:p>
            <a:r>
              <a:rPr dirty="0"/>
              <a:t>FSM controls behavior, while A* generates an efficient path to the target.</a:t>
            </a:r>
          </a:p>
        </p:txBody>
      </p:sp>
      <p:sp>
        <p:nvSpPr>
          <p:cNvPr id="1048634" name="TextBox 5"/>
          <p:cNvSpPr txBox="1"/>
          <p:nvPr/>
        </p:nvSpPr>
        <p:spPr>
          <a:xfrm>
            <a:off x="502920" y="6473952"/>
            <a:ext cx="3110181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dirty="0">
                <a:solidFill>
                  <a:srgbClr val="5B646E"/>
                </a:solidFill>
                <a:latin typeface="Arial"/>
              </a:rPr>
              <a:t>Department of Cyber Security  |  Project Review – 1  |  2026–2027</a:t>
            </a:r>
          </a:p>
        </p:txBody>
      </p:sp>
      <p:sp>
        <p:nvSpPr>
          <p:cNvPr id="1048635" name="Rounded Rectangle 6"/>
          <p:cNvSpPr/>
          <p:nvPr/>
        </p:nvSpPr>
        <p:spPr>
          <a:xfrm>
            <a:off x="6309360" y="1234440"/>
            <a:ext cx="5321808" cy="5193792"/>
          </a:xfrm>
          <a:prstGeom prst="roundRect">
            <a:avLst/>
          </a:prstGeom>
          <a:solidFill>
            <a:srgbClr val="F9FAFC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36" name="TextBox 7"/>
          <p:cNvSpPr txBox="1"/>
          <p:nvPr/>
        </p:nvSpPr>
        <p:spPr>
          <a:xfrm>
            <a:off x="6783008" y="1376679"/>
            <a:ext cx="1210687" cy="2184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dirty="0">
                <a:solidFill>
                  <a:srgbClr val="2F67AB"/>
                </a:solidFill>
                <a:latin typeface="Aptos"/>
              </a:rPr>
              <a:t>AI DECISION PROCESS</a:t>
            </a:r>
          </a:p>
        </p:txBody>
      </p:sp>
      <p:sp>
        <p:nvSpPr>
          <p:cNvPr id="1048637" name="Rounded Rectangle 8"/>
          <p:cNvSpPr/>
          <p:nvPr/>
        </p:nvSpPr>
        <p:spPr>
          <a:xfrm>
            <a:off x="6547104" y="1664208"/>
            <a:ext cx="1170432" cy="50292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PLAYER</a:t>
            </a:r>
          </a:p>
          <a:p>
            <a:r>
              <a:rPr sz="1000" b="1">
                <a:solidFill>
                  <a:srgbClr val="2F67AB"/>
                </a:solidFill>
                <a:latin typeface="Aptos"/>
              </a:rPr>
              <a:t>ACTION</a:t>
            </a:r>
          </a:p>
        </p:txBody>
      </p:sp>
      <p:sp>
        <p:nvSpPr>
          <p:cNvPr id="1048638" name="Rounded Rectangle 9"/>
          <p:cNvSpPr/>
          <p:nvPr/>
        </p:nvSpPr>
        <p:spPr>
          <a:xfrm>
            <a:off x="7882127" y="1664208"/>
            <a:ext cx="1225296" cy="50292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PERCEPTION</a:t>
            </a:r>
          </a:p>
        </p:txBody>
      </p:sp>
      <p:sp>
        <p:nvSpPr>
          <p:cNvPr id="1048639" name="Rounded Rectangle 10"/>
          <p:cNvSpPr/>
          <p:nvPr/>
        </p:nvSpPr>
        <p:spPr>
          <a:xfrm>
            <a:off x="9281160" y="1664208"/>
            <a:ext cx="1261872" cy="50292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NOISE / VISION</a:t>
            </a:r>
          </a:p>
        </p:txBody>
      </p:sp>
      <p:cxnSp>
        <p:nvCxnSpPr>
          <p:cNvPr id="3145731" name="Connector 11"/>
          <p:cNvCxnSpPr>
            <a:cxnSpLocks/>
          </p:cNvCxnSpPr>
          <p:nvPr/>
        </p:nvCxnSpPr>
        <p:spPr>
          <a:xfrm>
            <a:off x="7717536" y="1915668"/>
            <a:ext cx="164591" cy="0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 12"/>
          <p:cNvCxnSpPr>
            <a:cxnSpLocks/>
          </p:cNvCxnSpPr>
          <p:nvPr/>
        </p:nvCxnSpPr>
        <p:spPr>
          <a:xfrm>
            <a:off x="9107424" y="1915668"/>
            <a:ext cx="173736" cy="0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40" name="Rounded Rectangle 13"/>
          <p:cNvSpPr/>
          <p:nvPr/>
        </p:nvSpPr>
        <p:spPr>
          <a:xfrm>
            <a:off x="7543800" y="2395728"/>
            <a:ext cx="2395728" cy="54864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2F67AB"/>
                </a:solidFill>
                <a:latin typeface="Aptos"/>
              </a:rPr>
              <a:t>MINIMAX +</a:t>
            </a:r>
          </a:p>
          <a:p>
            <a:pPr algn="ctr"/>
            <a:r>
              <a:rPr sz="1100" b="1" dirty="0">
                <a:solidFill>
                  <a:srgbClr val="2F67AB"/>
                </a:solidFill>
                <a:latin typeface="Aptos"/>
              </a:rPr>
              <a:t>ALPHA-BETA</a:t>
            </a:r>
          </a:p>
        </p:txBody>
      </p:sp>
      <p:cxnSp>
        <p:nvCxnSpPr>
          <p:cNvPr id="3145733" name="Connector 14"/>
          <p:cNvCxnSpPr>
            <a:cxnSpLocks/>
          </p:cNvCxnSpPr>
          <p:nvPr/>
        </p:nvCxnSpPr>
        <p:spPr>
          <a:xfrm>
            <a:off x="9912096" y="2670048"/>
            <a:ext cx="420624" cy="0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41" name="Rounded Rectangle 15"/>
          <p:cNvSpPr/>
          <p:nvPr/>
        </p:nvSpPr>
        <p:spPr>
          <a:xfrm>
            <a:off x="10277856" y="2359152"/>
            <a:ext cx="1115568" cy="621792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smtClean="0">
                <a:solidFill>
                  <a:srgbClr val="2F67AB"/>
                </a:solidFill>
                <a:latin typeface="Aptos"/>
              </a:rPr>
              <a:t>A</a:t>
            </a:r>
            <a:r>
              <a:rPr lang="en-US" sz="1000" b="1" dirty="0" smtClean="0">
                <a:solidFill>
                  <a:srgbClr val="2F67AB"/>
                </a:solidFill>
                <a:latin typeface="Aptos"/>
              </a:rPr>
              <a:t>C</a:t>
            </a:r>
            <a:r>
              <a:rPr sz="1000" b="1" dirty="0" smtClean="0">
                <a:solidFill>
                  <a:srgbClr val="2F67AB"/>
                </a:solidFill>
                <a:latin typeface="Aptos"/>
              </a:rPr>
              <a:t>TION</a:t>
            </a:r>
            <a:endParaRPr sz="1000" b="1" dirty="0">
              <a:solidFill>
                <a:srgbClr val="2F67AB"/>
              </a:solidFill>
              <a:latin typeface="Aptos"/>
            </a:endParaRPr>
          </a:p>
          <a:p>
            <a:pPr algn="ctr"/>
            <a:r>
              <a:rPr sz="1000" b="1" dirty="0">
                <a:solidFill>
                  <a:srgbClr val="2F67AB"/>
                </a:solidFill>
                <a:latin typeface="Aptos"/>
              </a:rPr>
              <a:t>SELECTED?</a:t>
            </a:r>
          </a:p>
        </p:txBody>
      </p:sp>
      <p:sp>
        <p:nvSpPr>
          <p:cNvPr id="1048642" name="TextBox 16"/>
          <p:cNvSpPr txBox="1"/>
          <p:nvPr/>
        </p:nvSpPr>
        <p:spPr>
          <a:xfrm>
            <a:off x="7388352" y="3006090"/>
            <a:ext cx="373381" cy="2057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F67AB"/>
                </a:solidFill>
                <a:latin typeface="Aptos"/>
              </a:rPr>
              <a:t>YES</a:t>
            </a:r>
          </a:p>
        </p:txBody>
      </p:sp>
      <p:sp>
        <p:nvSpPr>
          <p:cNvPr id="1048643" name="TextBox 17"/>
          <p:cNvSpPr txBox="1"/>
          <p:nvPr/>
        </p:nvSpPr>
        <p:spPr>
          <a:xfrm>
            <a:off x="10451592" y="3006090"/>
            <a:ext cx="335281" cy="2057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F67AB"/>
                </a:solidFill>
                <a:latin typeface="Aptos"/>
              </a:rPr>
              <a:t>NO</a:t>
            </a:r>
          </a:p>
        </p:txBody>
      </p:sp>
      <p:sp>
        <p:nvSpPr>
          <p:cNvPr id="1048644" name="Rounded Rectangle 18"/>
          <p:cNvSpPr/>
          <p:nvPr/>
        </p:nvSpPr>
        <p:spPr>
          <a:xfrm>
            <a:off x="6565392" y="3236976"/>
            <a:ext cx="2194560" cy="54864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2F67AB"/>
                </a:solidFill>
                <a:latin typeface="Aptos"/>
              </a:rPr>
              <a:t>CONTINUE</a:t>
            </a:r>
          </a:p>
          <a:p>
            <a:pPr algn="ctr"/>
            <a:r>
              <a:rPr sz="1050" b="1">
                <a:solidFill>
                  <a:srgbClr val="2F67AB"/>
                </a:solidFill>
                <a:latin typeface="Aptos"/>
              </a:rPr>
              <a:t>PATROL</a:t>
            </a:r>
          </a:p>
        </p:txBody>
      </p:sp>
      <p:sp>
        <p:nvSpPr>
          <p:cNvPr id="1048645" name="Rounded Rectangle 19"/>
          <p:cNvSpPr/>
          <p:nvPr/>
        </p:nvSpPr>
        <p:spPr>
          <a:xfrm>
            <a:off x="9198864" y="3236976"/>
            <a:ext cx="2194560" cy="54864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2F67AB"/>
                </a:solidFill>
                <a:latin typeface="Aptos"/>
              </a:rPr>
              <a:t>FSM</a:t>
            </a:r>
          </a:p>
          <a:p>
            <a:pPr algn="ctr"/>
            <a:r>
              <a:rPr sz="1050" b="1" dirty="0">
                <a:solidFill>
                  <a:srgbClr val="2F67AB"/>
                </a:solidFill>
                <a:latin typeface="Aptos"/>
              </a:rPr>
              <a:t>BEHAVIOR</a:t>
            </a:r>
          </a:p>
        </p:txBody>
      </p:sp>
      <p:cxnSp>
        <p:nvCxnSpPr>
          <p:cNvPr id="3145734" name="Connector 20"/>
          <p:cNvCxnSpPr>
            <a:cxnSpLocks/>
          </p:cNvCxnSpPr>
          <p:nvPr/>
        </p:nvCxnSpPr>
        <p:spPr>
          <a:xfrm flipH="1">
            <a:off x="7575042" y="2980944"/>
            <a:ext cx="3172968" cy="256032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or 21"/>
          <p:cNvCxnSpPr>
            <a:cxnSpLocks/>
          </p:cNvCxnSpPr>
          <p:nvPr/>
        </p:nvCxnSpPr>
        <p:spPr>
          <a:xfrm flipH="1">
            <a:off x="10517125" y="2980944"/>
            <a:ext cx="539496" cy="256032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46" name="Rounded Rectangle 22"/>
          <p:cNvSpPr/>
          <p:nvPr/>
        </p:nvSpPr>
        <p:spPr>
          <a:xfrm>
            <a:off x="6565392" y="4096512"/>
            <a:ext cx="2194560" cy="530352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2F67AB"/>
                </a:solidFill>
                <a:latin typeface="Aptos"/>
              </a:rPr>
              <a:t>A* PATHFINDING</a:t>
            </a:r>
          </a:p>
        </p:txBody>
      </p:sp>
      <p:cxnSp>
        <p:nvCxnSpPr>
          <p:cNvPr id="3145736" name="Connector 23"/>
          <p:cNvCxnSpPr>
            <a:cxnSpLocks/>
          </p:cNvCxnSpPr>
          <p:nvPr/>
        </p:nvCxnSpPr>
        <p:spPr>
          <a:xfrm>
            <a:off x="7662672" y="3785615"/>
            <a:ext cx="0" cy="310897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47" name="Rounded Rectangle 24"/>
          <p:cNvSpPr/>
          <p:nvPr/>
        </p:nvSpPr>
        <p:spPr>
          <a:xfrm>
            <a:off x="9198864" y="4005072"/>
            <a:ext cx="2194560" cy="45720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2F67AB"/>
                </a:solidFill>
                <a:latin typeface="Aptos"/>
              </a:rPr>
              <a:t>INVESTIGATE /</a:t>
            </a:r>
          </a:p>
          <a:p>
            <a:pPr algn="ctr"/>
            <a:r>
              <a:rPr sz="1050" b="1" dirty="0">
                <a:solidFill>
                  <a:srgbClr val="2F67AB"/>
                </a:solidFill>
                <a:latin typeface="Aptos"/>
              </a:rPr>
              <a:t>CHASE</a:t>
            </a:r>
          </a:p>
        </p:txBody>
      </p:sp>
      <p:sp>
        <p:nvSpPr>
          <p:cNvPr id="1048648" name="Rounded Rectangle 25"/>
          <p:cNvSpPr/>
          <p:nvPr/>
        </p:nvSpPr>
        <p:spPr>
          <a:xfrm>
            <a:off x="9198864" y="4590288"/>
            <a:ext cx="2194560" cy="45720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69" b="1" dirty="0">
                <a:solidFill>
                  <a:srgbClr val="2F67AB"/>
                </a:solidFill>
                <a:latin typeface="Aptos"/>
              </a:rPr>
              <a:t>PATH</a:t>
            </a:r>
          </a:p>
          <a:p>
            <a:pPr algn="ctr"/>
            <a:r>
              <a:rPr sz="969" b="1" dirty="0">
                <a:solidFill>
                  <a:srgbClr val="2F67AB"/>
                </a:solidFill>
                <a:latin typeface="Aptos"/>
              </a:rPr>
              <a:t>CALCULATION</a:t>
            </a:r>
          </a:p>
        </p:txBody>
      </p:sp>
      <p:sp>
        <p:nvSpPr>
          <p:cNvPr id="1048649" name="Rounded Rectangle 26"/>
          <p:cNvSpPr/>
          <p:nvPr/>
        </p:nvSpPr>
        <p:spPr>
          <a:xfrm>
            <a:off x="9198864" y="5175504"/>
            <a:ext cx="2194560" cy="45720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69" b="1">
                <a:solidFill>
                  <a:srgbClr val="2F67AB"/>
                </a:solidFill>
                <a:latin typeface="Aptos"/>
              </a:rPr>
              <a:t>GUARD</a:t>
            </a:r>
          </a:p>
          <a:p>
            <a:pPr algn="ctr"/>
            <a:r>
              <a:rPr sz="969" b="1">
                <a:solidFill>
                  <a:srgbClr val="2F67AB"/>
                </a:solidFill>
                <a:latin typeface="Aptos"/>
              </a:rPr>
              <a:t>MOVEMENT</a:t>
            </a:r>
          </a:p>
        </p:txBody>
      </p:sp>
      <p:sp>
        <p:nvSpPr>
          <p:cNvPr id="1048650" name="Rounded Rectangle 27"/>
          <p:cNvSpPr/>
          <p:nvPr/>
        </p:nvSpPr>
        <p:spPr>
          <a:xfrm>
            <a:off x="9198864" y="5760720"/>
            <a:ext cx="2194560" cy="457200"/>
          </a:xfrm>
          <a:prstGeom prst="roundRect">
            <a:avLst/>
          </a:prstGeom>
          <a:solidFill>
            <a:srgbClr val="F2F6FA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69" b="1">
                <a:solidFill>
                  <a:srgbClr val="2F67AB"/>
                </a:solidFill>
                <a:latin typeface="Aptos"/>
              </a:rPr>
              <a:t>ESCAPE / RE-PERCEIVE</a:t>
            </a:r>
          </a:p>
        </p:txBody>
      </p:sp>
      <p:cxnSp>
        <p:nvCxnSpPr>
          <p:cNvPr id="3145737" name="Connector 28"/>
          <p:cNvCxnSpPr>
            <a:cxnSpLocks/>
          </p:cNvCxnSpPr>
          <p:nvPr/>
        </p:nvCxnSpPr>
        <p:spPr>
          <a:xfrm>
            <a:off x="10296144" y="3785615"/>
            <a:ext cx="0" cy="219457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8" name="Connector 29"/>
          <p:cNvCxnSpPr>
            <a:cxnSpLocks/>
          </p:cNvCxnSpPr>
          <p:nvPr/>
        </p:nvCxnSpPr>
        <p:spPr>
          <a:xfrm>
            <a:off x="10296144" y="4462272"/>
            <a:ext cx="0" cy="128016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9" name="Connector 30"/>
          <p:cNvCxnSpPr>
            <a:cxnSpLocks/>
          </p:cNvCxnSpPr>
          <p:nvPr/>
        </p:nvCxnSpPr>
        <p:spPr>
          <a:xfrm>
            <a:off x="10296144" y="5047488"/>
            <a:ext cx="0" cy="128016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0" name="Connector 31"/>
          <p:cNvCxnSpPr>
            <a:cxnSpLocks/>
          </p:cNvCxnSpPr>
          <p:nvPr/>
        </p:nvCxnSpPr>
        <p:spPr>
          <a:xfrm>
            <a:off x="10296144" y="5632704"/>
            <a:ext cx="0" cy="128016"/>
          </a:xfrm>
          <a:prstGeom prst="line">
            <a:avLst/>
          </a:prstGeom>
          <a:ln w="15875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51" name="Rounded Rectangle 32"/>
          <p:cNvSpPr/>
          <p:nvPr/>
        </p:nvSpPr>
        <p:spPr>
          <a:xfrm>
            <a:off x="6565392" y="6272784"/>
            <a:ext cx="4828032" cy="256032"/>
          </a:xfrm>
          <a:prstGeom prst="roundRect">
            <a:avLst/>
          </a:prstGeom>
          <a:solidFill>
            <a:srgbClr val="ECF2F8"/>
          </a:solidFill>
          <a:ln w="14604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20" b="1">
                <a:solidFill>
                  <a:srgbClr val="2F67AB"/>
                </a:solidFill>
                <a:latin typeface="Aptos"/>
              </a:rPr>
              <a:t>PERCEPTION • DECISION-MAKING • FSM • PATHFINDING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3" name="TextBox 2"/>
          <p:cNvSpPr txBox="1"/>
          <p:nvPr/>
        </p:nvSpPr>
        <p:spPr>
          <a:xfrm>
            <a:off x="502920" y="118872"/>
            <a:ext cx="5342603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System Architecture / Block Diagram</a:t>
            </a:r>
          </a:p>
        </p:txBody>
      </p:sp>
      <p:sp>
        <p:nvSpPr>
          <p:cNvPr id="1048654" name="TextBox 3"/>
          <p:cNvSpPr txBox="1"/>
          <p:nvPr/>
        </p:nvSpPr>
        <p:spPr>
          <a:xfrm>
            <a:off x="11292840" y="137160"/>
            <a:ext cx="2971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048655" name="Rounded Rectangle 22"/>
          <p:cNvSpPr/>
          <p:nvPr/>
        </p:nvSpPr>
        <p:spPr>
          <a:xfrm>
            <a:off x="9646920" y="1755648"/>
            <a:ext cx="1920240" cy="9144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F67AB"/>
                </a:solidFill>
                <a:latin typeface="Aptos"/>
              </a:rPr>
              <a:t>OUTPUT</a:t>
            </a:r>
          </a:p>
          <a:p>
            <a:pPr algn="ctr"/>
            <a:r>
              <a:rPr sz="1150" b="1">
                <a:solidFill>
                  <a:srgbClr val="2F67AB"/>
                </a:solidFill>
                <a:latin typeface="Aptos"/>
              </a:rPr>
              <a:t>Game State</a:t>
            </a:r>
          </a:p>
        </p:txBody>
      </p:sp>
      <p:sp>
        <p:nvSpPr>
          <p:cNvPr id="1048656" name="TextBox 23"/>
          <p:cNvSpPr txBox="1"/>
          <p:nvPr/>
        </p:nvSpPr>
        <p:spPr>
          <a:xfrm>
            <a:off x="713232" y="1216659"/>
            <a:ext cx="1675428" cy="2184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F3B59"/>
                </a:solidFill>
                <a:latin typeface="Aptos"/>
              </a:rPr>
              <a:t>AI GAME ARCHITECTURE</a:t>
            </a:r>
          </a:p>
        </p:txBody>
      </p:sp>
      <p:sp>
        <p:nvSpPr>
          <p:cNvPr id="1048657" name="Rounded Rectangle 24"/>
          <p:cNvSpPr/>
          <p:nvPr/>
        </p:nvSpPr>
        <p:spPr>
          <a:xfrm>
            <a:off x="566928" y="1755648"/>
            <a:ext cx="1938528" cy="9144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INPUT</a:t>
            </a:r>
          </a:p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Player Action</a:t>
            </a:r>
          </a:p>
        </p:txBody>
      </p:sp>
      <p:sp>
        <p:nvSpPr>
          <p:cNvPr id="1048658" name="Rounded Rectangle 25"/>
          <p:cNvSpPr/>
          <p:nvPr/>
        </p:nvSpPr>
        <p:spPr>
          <a:xfrm>
            <a:off x="2743200" y="1755648"/>
            <a:ext cx="1993392" cy="9144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PERCEPTION</a:t>
            </a:r>
          </a:p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Noise + Line of Sight</a:t>
            </a:r>
          </a:p>
        </p:txBody>
      </p:sp>
      <p:sp>
        <p:nvSpPr>
          <p:cNvPr id="1048659" name="Rounded Rectangle 26"/>
          <p:cNvSpPr/>
          <p:nvPr/>
        </p:nvSpPr>
        <p:spPr>
          <a:xfrm>
            <a:off x="5010912" y="1755648"/>
            <a:ext cx="2304288" cy="9144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DECISION</a:t>
            </a:r>
          </a:p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Minimax + Alpha-Beta</a:t>
            </a:r>
          </a:p>
        </p:txBody>
      </p:sp>
      <p:sp>
        <p:nvSpPr>
          <p:cNvPr id="1048660" name="Rounded Rectangle 27"/>
          <p:cNvSpPr/>
          <p:nvPr/>
        </p:nvSpPr>
        <p:spPr>
          <a:xfrm>
            <a:off x="7607808" y="1755648"/>
            <a:ext cx="1865376" cy="9144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BEHAVIOR</a:t>
            </a:r>
          </a:p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FSM State Selection</a:t>
            </a:r>
          </a:p>
        </p:txBody>
      </p:sp>
      <p:sp>
        <p:nvSpPr>
          <p:cNvPr id="1048661" name="Rounded Rectangle 28"/>
          <p:cNvSpPr/>
          <p:nvPr/>
        </p:nvSpPr>
        <p:spPr>
          <a:xfrm>
            <a:off x="9656064" y="1755648"/>
            <a:ext cx="1938528" cy="9144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OUTPUT</a:t>
            </a:r>
          </a:p>
          <a:p>
            <a:pPr algn="ctr"/>
            <a:r>
              <a:rPr sz="1120" b="1">
                <a:solidFill>
                  <a:srgbClr val="2F67AB"/>
                </a:solidFill>
                <a:latin typeface="Aptos"/>
              </a:rPr>
              <a:t>Game State</a:t>
            </a:r>
          </a:p>
        </p:txBody>
      </p:sp>
      <p:cxnSp>
        <p:nvCxnSpPr>
          <p:cNvPr id="3145741" name="Connector 29"/>
          <p:cNvCxnSpPr>
            <a:cxnSpLocks/>
          </p:cNvCxnSpPr>
          <p:nvPr/>
        </p:nvCxnSpPr>
        <p:spPr>
          <a:xfrm>
            <a:off x="2505456" y="2212848"/>
            <a:ext cx="237744" cy="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2" name="Connector 30"/>
          <p:cNvCxnSpPr>
            <a:cxnSpLocks/>
          </p:cNvCxnSpPr>
          <p:nvPr/>
        </p:nvCxnSpPr>
        <p:spPr>
          <a:xfrm>
            <a:off x="4736592" y="2212848"/>
            <a:ext cx="274320" cy="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3" name="Connector 31"/>
          <p:cNvCxnSpPr>
            <a:cxnSpLocks/>
          </p:cNvCxnSpPr>
          <p:nvPr/>
        </p:nvCxnSpPr>
        <p:spPr>
          <a:xfrm>
            <a:off x="7315200" y="2212848"/>
            <a:ext cx="292608" cy="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4" name="Connector 32"/>
          <p:cNvCxnSpPr>
            <a:cxnSpLocks/>
          </p:cNvCxnSpPr>
          <p:nvPr/>
        </p:nvCxnSpPr>
        <p:spPr>
          <a:xfrm>
            <a:off x="9473184" y="2212848"/>
            <a:ext cx="182880" cy="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62" name="TextBox 33"/>
          <p:cNvSpPr txBox="1"/>
          <p:nvPr/>
        </p:nvSpPr>
        <p:spPr>
          <a:xfrm>
            <a:off x="6178568" y="2889401"/>
            <a:ext cx="889987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dirty="0">
                <a:solidFill>
                  <a:srgbClr val="1F3B59"/>
                </a:solidFill>
                <a:latin typeface="Aptos"/>
              </a:rPr>
              <a:t>AI DECISION</a:t>
            </a:r>
          </a:p>
        </p:txBody>
      </p:sp>
      <p:sp>
        <p:nvSpPr>
          <p:cNvPr id="1048663" name="Rounded Rectangle 34"/>
          <p:cNvSpPr/>
          <p:nvPr/>
        </p:nvSpPr>
        <p:spPr>
          <a:xfrm>
            <a:off x="4617720" y="3383280"/>
            <a:ext cx="2057400" cy="62179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INVESTIGATE /</a:t>
            </a:r>
          </a:p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CONTINUE PATROL</a:t>
            </a:r>
          </a:p>
        </p:txBody>
      </p:sp>
      <p:sp>
        <p:nvSpPr>
          <p:cNvPr id="1048664" name="Rounded Rectangle 35"/>
          <p:cNvSpPr/>
          <p:nvPr/>
        </p:nvSpPr>
        <p:spPr>
          <a:xfrm>
            <a:off x="7040880" y="3383280"/>
            <a:ext cx="2057400" cy="62179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PLAYER</a:t>
            </a:r>
          </a:p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DETECTED</a:t>
            </a:r>
          </a:p>
        </p:txBody>
      </p:sp>
      <p:sp>
        <p:nvSpPr>
          <p:cNvPr id="1048665" name="Rounded Rectangle 36"/>
          <p:cNvSpPr/>
          <p:nvPr/>
        </p:nvSpPr>
        <p:spPr>
          <a:xfrm>
            <a:off x="9464040" y="3383280"/>
            <a:ext cx="2057400" cy="62179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A* PATHFINDING</a:t>
            </a:r>
          </a:p>
          <a:p>
            <a:pPr algn="ctr"/>
            <a:r>
              <a:rPr sz="1000" b="1">
                <a:solidFill>
                  <a:srgbClr val="2F67AB"/>
                </a:solidFill>
                <a:latin typeface="Aptos"/>
              </a:rPr>
              <a:t>TO TARGET</a:t>
            </a:r>
          </a:p>
        </p:txBody>
      </p:sp>
      <p:cxnSp>
        <p:nvCxnSpPr>
          <p:cNvPr id="3145745" name="Connector 37"/>
          <p:cNvCxnSpPr>
            <a:cxnSpLocks/>
          </p:cNvCxnSpPr>
          <p:nvPr/>
        </p:nvCxnSpPr>
        <p:spPr>
          <a:xfrm>
            <a:off x="6675120" y="3694176"/>
            <a:ext cx="365760" cy="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6" name="Connector 38"/>
          <p:cNvCxnSpPr>
            <a:cxnSpLocks/>
          </p:cNvCxnSpPr>
          <p:nvPr/>
        </p:nvCxnSpPr>
        <p:spPr>
          <a:xfrm>
            <a:off x="9098280" y="3694176"/>
            <a:ext cx="365760" cy="0"/>
          </a:xfrm>
          <a:prstGeom prst="line">
            <a:avLst/>
          </a:prstGeom>
          <a:ln w="16510">
            <a:solidFill>
              <a:srgbClr val="2F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66" name="TextBox 39"/>
          <p:cNvSpPr txBox="1"/>
          <p:nvPr/>
        </p:nvSpPr>
        <p:spPr>
          <a:xfrm>
            <a:off x="4663440" y="4112514"/>
            <a:ext cx="1018005" cy="2057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F67AB"/>
                </a:solidFill>
                <a:latin typeface="Aptos"/>
              </a:rPr>
              <a:t>ACTION → MOVE</a:t>
            </a:r>
          </a:p>
        </p:txBody>
      </p:sp>
      <p:sp>
        <p:nvSpPr>
          <p:cNvPr id="1048667" name="TextBox 40"/>
          <p:cNvSpPr txBox="1"/>
          <p:nvPr/>
        </p:nvSpPr>
        <p:spPr>
          <a:xfrm>
            <a:off x="7086600" y="4112514"/>
            <a:ext cx="1387198" cy="2057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F67AB"/>
                </a:solidFill>
                <a:latin typeface="Aptos"/>
              </a:rPr>
              <a:t>DETECTION → CHASE</a:t>
            </a:r>
          </a:p>
        </p:txBody>
      </p:sp>
      <p:cxnSp>
        <p:nvCxnSpPr>
          <p:cNvPr id="3145747" name="Connector 41"/>
          <p:cNvCxnSpPr>
            <a:cxnSpLocks/>
          </p:cNvCxnSpPr>
          <p:nvPr/>
        </p:nvCxnSpPr>
        <p:spPr>
          <a:xfrm>
            <a:off x="6163056" y="2670048"/>
            <a:ext cx="0" cy="713232"/>
          </a:xfrm>
          <a:prstGeom prst="line">
            <a:avLst/>
          </a:prstGeom>
          <a:ln w="16510">
            <a:solidFill>
              <a:srgbClr val="2F67A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68" name="Rounded Rectangle 42"/>
          <p:cNvSpPr/>
          <p:nvPr/>
        </p:nvSpPr>
        <p:spPr>
          <a:xfrm>
            <a:off x="914400" y="4800600"/>
            <a:ext cx="10469880" cy="566928"/>
          </a:xfrm>
          <a:prstGeom prst="roundRect">
            <a:avLst/>
          </a:prstGeom>
          <a:solidFill>
            <a:srgbClr val="ECF2F8"/>
          </a:solidFill>
          <a:ln w="15240">
            <a:solidFill>
              <a:srgbClr val="2F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2F67AB"/>
                </a:solidFill>
                <a:latin typeface="Aptos"/>
              </a:rPr>
              <a:t>CORE AI COMPONENTS:  Perception • Minimax • Alpha-Beta • FSM • A*</a:t>
            </a:r>
          </a:p>
        </p:txBody>
      </p:sp>
      <p:cxnSp>
        <p:nvCxnSpPr>
          <p:cNvPr id="3145748" name="Connector 43"/>
          <p:cNvCxnSpPr>
            <a:cxnSpLocks/>
          </p:cNvCxnSpPr>
          <p:nvPr/>
        </p:nvCxnSpPr>
        <p:spPr>
          <a:xfrm flipV="1">
            <a:off x="6163056" y="4005072"/>
            <a:ext cx="0" cy="795528"/>
          </a:xfrm>
          <a:prstGeom prst="line">
            <a:avLst/>
          </a:prstGeom>
          <a:ln w="16510">
            <a:solidFill>
              <a:srgbClr val="2F67A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69" name="TextBox 44"/>
          <p:cNvSpPr txBox="1"/>
          <p:nvPr/>
        </p:nvSpPr>
        <p:spPr>
          <a:xfrm>
            <a:off x="960120" y="5636005"/>
            <a:ext cx="5868263" cy="2311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>
                <a:solidFill>
                  <a:srgbClr val="4B5765"/>
                </a:solidFill>
                <a:latin typeface="Aptos"/>
              </a:rPr>
              <a:t>Project-specific architecture for player perception, AI decision-making, NPC behavior and pathfinding.</a:t>
            </a:r>
          </a:p>
        </p:txBody>
      </p:sp>
      <p:sp>
        <p:nvSpPr>
          <p:cNvPr id="29" name="TextBox 5"/>
          <p:cNvSpPr txBox="1"/>
          <p:nvPr/>
        </p:nvSpPr>
        <p:spPr>
          <a:xfrm>
            <a:off x="502920" y="6473952"/>
            <a:ext cx="3110181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dirty="0">
                <a:solidFill>
                  <a:srgbClr val="5B646E"/>
                </a:solidFill>
                <a:latin typeface="Arial"/>
              </a:rPr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1" name="TextBox 2"/>
          <p:cNvSpPr txBox="1"/>
          <p:nvPr/>
        </p:nvSpPr>
        <p:spPr>
          <a:xfrm>
            <a:off x="502920" y="118872"/>
            <a:ext cx="2037080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Methodology</a:t>
            </a:r>
          </a:p>
        </p:txBody>
      </p:sp>
      <p:sp>
        <p:nvSpPr>
          <p:cNvPr id="1048672" name="TextBox 3"/>
          <p:cNvSpPr txBox="1"/>
          <p:nvPr/>
        </p:nvSpPr>
        <p:spPr>
          <a:xfrm>
            <a:off x="11292840" y="137160"/>
            <a:ext cx="3733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048673" name="Rounded Rectangle 4"/>
          <p:cNvSpPr/>
          <p:nvPr/>
        </p:nvSpPr>
        <p:spPr>
          <a:xfrm>
            <a:off x="640080" y="123444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1. Player Movement &amp; Action</a:t>
            </a:r>
          </a:p>
        </p:txBody>
      </p:sp>
      <p:sp>
        <p:nvSpPr>
          <p:cNvPr id="1048674" name="Rounded Rectangle 5"/>
          <p:cNvSpPr/>
          <p:nvPr/>
        </p:nvSpPr>
        <p:spPr>
          <a:xfrm>
            <a:off x="4434840" y="123444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2. Perception Check</a:t>
            </a:r>
          </a:p>
        </p:txBody>
      </p:sp>
      <p:sp>
        <p:nvSpPr>
          <p:cNvPr id="1048675" name="Rounded Rectangle 6"/>
          <p:cNvSpPr/>
          <p:nvPr/>
        </p:nvSpPr>
        <p:spPr>
          <a:xfrm>
            <a:off x="8229600" y="123444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3. Minimax + Alpha-Beta Decision</a:t>
            </a:r>
          </a:p>
        </p:txBody>
      </p:sp>
      <p:sp>
        <p:nvSpPr>
          <p:cNvPr id="1048676" name="Rounded Rectangle 7"/>
          <p:cNvSpPr/>
          <p:nvPr/>
        </p:nvSpPr>
        <p:spPr>
          <a:xfrm>
            <a:off x="640080" y="329184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4. FSM State Selection</a:t>
            </a:r>
          </a:p>
        </p:txBody>
      </p:sp>
      <p:sp>
        <p:nvSpPr>
          <p:cNvPr id="1048677" name="Rounded Rectangle 8"/>
          <p:cNvSpPr/>
          <p:nvPr/>
        </p:nvSpPr>
        <p:spPr>
          <a:xfrm>
            <a:off x="4434840" y="329184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5. A* Path Calculation</a:t>
            </a:r>
          </a:p>
        </p:txBody>
      </p:sp>
      <p:sp>
        <p:nvSpPr>
          <p:cNvPr id="1048678" name="Rounded Rectangle 9"/>
          <p:cNvSpPr/>
          <p:nvPr/>
        </p:nvSpPr>
        <p:spPr>
          <a:xfrm>
            <a:off x="8229600" y="3291840"/>
            <a:ext cx="33375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6. Guard Movement &amp; Re-evaluation</a:t>
            </a:r>
          </a:p>
        </p:txBody>
      </p:sp>
      <p:sp>
        <p:nvSpPr>
          <p:cNvPr id="1048679" name="TextBox 10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1" name="TextBox 2"/>
          <p:cNvSpPr txBox="1"/>
          <p:nvPr/>
        </p:nvSpPr>
        <p:spPr>
          <a:xfrm>
            <a:off x="502920" y="118872"/>
            <a:ext cx="2843233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Technologies Used</a:t>
            </a:r>
          </a:p>
        </p:txBody>
      </p:sp>
      <p:sp>
        <p:nvSpPr>
          <p:cNvPr id="1048682" name="TextBox 3"/>
          <p:cNvSpPr txBox="1"/>
          <p:nvPr/>
        </p:nvSpPr>
        <p:spPr>
          <a:xfrm>
            <a:off x="11292840" y="137160"/>
            <a:ext cx="335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048683" name="TextBox 4"/>
          <p:cNvSpPr txBox="1"/>
          <p:nvPr/>
        </p:nvSpPr>
        <p:spPr>
          <a:xfrm>
            <a:off x="731520" y="1143000"/>
            <a:ext cx="105156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900" b="0">
                <a:solidFill>
                  <a:srgbClr val="5F697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Programming Language: Python 3.x</a:t>
            </a:r>
          </a:p>
          <a:p>
            <a:r>
              <a:rPr dirty="0"/>
              <a:t>Game Framework: </a:t>
            </a:r>
            <a:r>
              <a:rPr dirty="0" err="1"/>
              <a:t>Pygame</a:t>
            </a:r>
            <a:endParaRPr dirty="0"/>
          </a:p>
          <a:p>
            <a:r>
              <a:rPr dirty="0"/>
              <a:t>Development Environment: VS Code</a:t>
            </a:r>
          </a:p>
          <a:p>
            <a:r>
              <a:rPr dirty="0" err="1"/>
              <a:t>Pathfinding</a:t>
            </a:r>
            <a:r>
              <a:rPr dirty="0"/>
              <a:t>: A* Search with Manhattan Distance</a:t>
            </a:r>
          </a:p>
          <a:p>
            <a:r>
              <a:rPr dirty="0"/>
              <a:t>Decision-Making: </a:t>
            </a:r>
            <a:r>
              <a:rPr dirty="0" err="1"/>
              <a:t>Minimax</a:t>
            </a:r>
            <a:r>
              <a:rPr dirty="0"/>
              <a:t> + Alpha-Beta Pruning</a:t>
            </a:r>
          </a:p>
          <a:p>
            <a:r>
              <a:rPr dirty="0"/>
              <a:t>Behavior Model: Finite State Machine (FSM)</a:t>
            </a:r>
          </a:p>
          <a:p>
            <a:r>
              <a:rPr dirty="0"/>
              <a:t>Perception: Line-of-Sight and Noise Detection</a:t>
            </a:r>
          </a:p>
          <a:p>
            <a:r>
              <a:rPr dirty="0"/>
              <a:t>Hardware: Intel Core i3 or above, 4 GB RAM, standard display</a:t>
            </a:r>
          </a:p>
        </p:txBody>
      </p:sp>
      <p:sp>
        <p:nvSpPr>
          <p:cNvPr id="1048684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6" name="TextBox 2"/>
          <p:cNvSpPr txBox="1"/>
          <p:nvPr/>
        </p:nvSpPr>
        <p:spPr>
          <a:xfrm>
            <a:off x="502920" y="118872"/>
            <a:ext cx="2913380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Module Description</a:t>
            </a:r>
          </a:p>
        </p:txBody>
      </p:sp>
      <p:sp>
        <p:nvSpPr>
          <p:cNvPr id="1048687" name="TextBox 3"/>
          <p:cNvSpPr txBox="1"/>
          <p:nvPr/>
        </p:nvSpPr>
        <p:spPr>
          <a:xfrm>
            <a:off x="11292840" y="137160"/>
            <a:ext cx="36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048688" name="Rounded Rectangle 4"/>
          <p:cNvSpPr/>
          <p:nvPr/>
        </p:nvSpPr>
        <p:spPr>
          <a:xfrm>
            <a:off x="731520" y="1097280"/>
            <a:ext cx="50292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Module 1 – Grid-Based Game Environment</a:t>
            </a:r>
          </a:p>
        </p:txBody>
      </p:sp>
      <p:sp>
        <p:nvSpPr>
          <p:cNvPr id="1048689" name="Rounded Rectangle 5"/>
          <p:cNvSpPr/>
          <p:nvPr/>
        </p:nvSpPr>
        <p:spPr>
          <a:xfrm>
            <a:off x="6309359" y="1097280"/>
            <a:ext cx="50292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Module 2 – Perception System</a:t>
            </a:r>
          </a:p>
        </p:txBody>
      </p:sp>
      <p:sp>
        <p:nvSpPr>
          <p:cNvPr id="1048690" name="Rounded Rectangle 6"/>
          <p:cNvSpPr/>
          <p:nvPr/>
        </p:nvSpPr>
        <p:spPr>
          <a:xfrm>
            <a:off x="731520" y="2606039"/>
            <a:ext cx="50292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Module 3 – Minimax + Alpha-Beta Decision Module</a:t>
            </a:r>
          </a:p>
        </p:txBody>
      </p:sp>
      <p:sp>
        <p:nvSpPr>
          <p:cNvPr id="1048691" name="Rounded Rectangle 7"/>
          <p:cNvSpPr/>
          <p:nvPr/>
        </p:nvSpPr>
        <p:spPr>
          <a:xfrm>
            <a:off x="6309359" y="2606039"/>
            <a:ext cx="50292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Module 4 – FSM Behavior Controller</a:t>
            </a:r>
          </a:p>
        </p:txBody>
      </p:sp>
      <p:sp>
        <p:nvSpPr>
          <p:cNvPr id="1048692" name="Rounded Rectangle 8"/>
          <p:cNvSpPr/>
          <p:nvPr/>
        </p:nvSpPr>
        <p:spPr>
          <a:xfrm>
            <a:off x="731520" y="4114800"/>
            <a:ext cx="50292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465A4"/>
                </a:solidFill>
                <a:latin typeface="Calibri"/>
              </a:defRPr>
            </a:pPr>
            <a:r>
              <a:rPr sz="1300" b="1">
                <a:solidFill>
                  <a:srgbClr val="2F67AB"/>
                </a:solidFill>
                <a:latin typeface="Aptos"/>
              </a:rPr>
              <a:t>Module 5 – A* Navigation &amp; Performance Evaluation</a:t>
            </a:r>
          </a:p>
        </p:txBody>
      </p:sp>
      <p:sp>
        <p:nvSpPr>
          <p:cNvPr id="1048693" name="TextBox 9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5" name="TextBox 2"/>
          <p:cNvSpPr txBox="1"/>
          <p:nvPr/>
        </p:nvSpPr>
        <p:spPr>
          <a:xfrm>
            <a:off x="502920" y="118872"/>
            <a:ext cx="4455785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Preliminary / Expected Results</a:t>
            </a:r>
          </a:p>
        </p:txBody>
      </p:sp>
      <p:sp>
        <p:nvSpPr>
          <p:cNvPr id="1048696" name="TextBox 3"/>
          <p:cNvSpPr txBox="1"/>
          <p:nvPr/>
        </p:nvSpPr>
        <p:spPr>
          <a:xfrm>
            <a:off x="11292840" y="137160"/>
            <a:ext cx="3733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1048697" name="Rounded Rectangle 4"/>
          <p:cNvSpPr/>
          <p:nvPr/>
        </p:nvSpPr>
        <p:spPr>
          <a:xfrm>
            <a:off x="640080" y="1143000"/>
            <a:ext cx="53035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63500" rtlCol="0" anchor="t"/>
          <a:lstStyle/>
          <a:p>
            <a:pPr algn="l">
              <a:lnSpc>
                <a:spcPct val="100000"/>
              </a:lnSpc>
              <a:spcAft>
                <a:spcPts val="1000"/>
              </a:spcAft>
              <a:defRPr sz="1700" b="1">
                <a:solidFill>
                  <a:srgbClr val="5F6973"/>
                </a:solidFill>
                <a:latin typeface="Calibri"/>
              </a:defRPr>
            </a:pPr>
            <a:r>
              <a:rPr sz="1600" b="1">
                <a:solidFill>
                  <a:srgbClr val="2F67AB"/>
                </a:solidFill>
                <a:latin typeface="Aptos"/>
              </a:rPr>
              <a:t>• Intelligent NPC that reacts to player actions.</a:t>
            </a:r>
          </a:p>
          <a:p>
            <a:r>
              <a:rPr sz="1600" b="1">
                <a:solidFill>
                  <a:srgbClr val="2F67AB"/>
                </a:solidFill>
                <a:latin typeface="Aptos"/>
              </a:rPr>
              <a:t>• Efficient navigation using A* pathfinding.</a:t>
            </a:r>
          </a:p>
          <a:p>
            <a:r>
              <a:rPr sz="1600" b="1">
                <a:solidFill>
                  <a:srgbClr val="2F67AB"/>
                </a:solidFill>
                <a:latin typeface="Aptos"/>
              </a:rPr>
              <a:t>• Strategic action selection using Minimax.</a:t>
            </a:r>
          </a:p>
          <a:p>
            <a:r>
              <a:rPr sz="1600" b="1">
                <a:solidFill>
                  <a:srgbClr val="2F67AB"/>
                </a:solidFill>
                <a:latin typeface="Aptos"/>
              </a:rPr>
              <a:t>• Reduced search using Alpha-Beta Pruning.</a:t>
            </a:r>
          </a:p>
        </p:txBody>
      </p:sp>
      <p:sp>
        <p:nvSpPr>
          <p:cNvPr id="1048698" name="Rounded Rectangle 5"/>
          <p:cNvSpPr/>
          <p:nvPr/>
        </p:nvSpPr>
        <p:spPr>
          <a:xfrm>
            <a:off x="6263640" y="1143000"/>
            <a:ext cx="53035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63500" rtlCol="0" anchor="t"/>
          <a:lstStyle/>
          <a:p>
            <a:pPr algn="l">
              <a:lnSpc>
                <a:spcPct val="100000"/>
              </a:lnSpc>
              <a:spcAft>
                <a:spcPts val="1000"/>
              </a:spcAft>
              <a:defRPr sz="1700" b="1">
                <a:solidFill>
                  <a:srgbClr val="5F6973"/>
                </a:solidFill>
                <a:latin typeface="Calibri"/>
              </a:defRPr>
            </a:pPr>
            <a:r>
              <a:rPr sz="1600" b="1">
                <a:solidFill>
                  <a:srgbClr val="2F67AB"/>
                </a:solidFill>
                <a:latin typeface="Aptos"/>
              </a:rPr>
              <a:t>• Clear transitions between NPC behavior states.</a:t>
            </a:r>
          </a:p>
          <a:p>
            <a:r>
              <a:rPr sz="1600" b="1">
                <a:solidFill>
                  <a:srgbClr val="2F67AB"/>
                </a:solidFill>
                <a:latin typeface="Aptos"/>
              </a:rPr>
              <a:t>• Dynamic response to noise and line of sight.</a:t>
            </a:r>
          </a:p>
          <a:p>
            <a:r>
              <a:rPr sz="1600" b="1">
                <a:solidFill>
                  <a:srgbClr val="2F67AB"/>
                </a:solidFill>
                <a:latin typeface="Aptos"/>
              </a:rPr>
              <a:t>• Measurable decision and pathfinding performance.</a:t>
            </a:r>
          </a:p>
          <a:p>
            <a:r>
              <a:rPr sz="1600" b="1">
                <a:solidFill>
                  <a:srgbClr val="2F67AB"/>
                </a:solidFill>
                <a:latin typeface="Aptos"/>
              </a:rPr>
              <a:t>• More strategic stealth gameplay.</a:t>
            </a:r>
          </a:p>
        </p:txBody>
      </p:sp>
      <p:sp>
        <p:nvSpPr>
          <p:cNvPr id="1048699" name="TextBox 6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1" name="TextBox 2"/>
          <p:cNvSpPr txBox="1"/>
          <p:nvPr/>
        </p:nvSpPr>
        <p:spPr>
          <a:xfrm>
            <a:off x="502920" y="118872"/>
            <a:ext cx="2563188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Schedule</a:t>
            </a:r>
          </a:p>
        </p:txBody>
      </p:sp>
      <p:sp>
        <p:nvSpPr>
          <p:cNvPr id="1048702" name="TextBox 3"/>
          <p:cNvSpPr txBox="1"/>
          <p:nvPr/>
        </p:nvSpPr>
        <p:spPr>
          <a:xfrm>
            <a:off x="11292840" y="137160"/>
            <a:ext cx="3733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594360" y="11430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t>Activity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Month 1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Month 2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Month 3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Month 4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t>Literature Survey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t>Problem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t>System &amp; Game Design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t>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t>Testing &amp; Evaluation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048703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5" name="TextBox 2"/>
          <p:cNvSpPr txBox="1"/>
          <p:nvPr/>
        </p:nvSpPr>
        <p:spPr>
          <a:xfrm>
            <a:off x="502920" y="118872"/>
            <a:ext cx="2599403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Current Progress</a:t>
            </a:r>
          </a:p>
        </p:txBody>
      </p:sp>
      <p:sp>
        <p:nvSpPr>
          <p:cNvPr id="1048706" name="TextBox 3"/>
          <p:cNvSpPr txBox="1"/>
          <p:nvPr/>
        </p:nvSpPr>
        <p:spPr>
          <a:xfrm>
            <a:off x="11292840" y="137160"/>
            <a:ext cx="3733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048707" name="TextBox 4"/>
          <p:cNvSpPr txBox="1"/>
          <p:nvPr/>
        </p:nvSpPr>
        <p:spPr>
          <a:xfrm>
            <a:off x="822960" y="1143000"/>
            <a:ext cx="10515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5F697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✓ Literature survey completed</a:t>
            </a:r>
          </a:p>
          <a:p>
            <a:r>
              <a:rPr dirty="0"/>
              <a:t>✓ Problem identification completed</a:t>
            </a:r>
          </a:p>
          <a:p>
            <a:r>
              <a:rPr dirty="0"/>
              <a:t>✓ Game requirements and core mechanics finalized</a:t>
            </a:r>
          </a:p>
          <a:p>
            <a:r>
              <a:rPr dirty="0"/>
              <a:t>✓ AI architecture and algorithms defined</a:t>
            </a:r>
          </a:p>
          <a:p>
            <a:r>
              <a:rPr dirty="0"/>
              <a:t>✓ Initial prototype development started</a:t>
            </a:r>
          </a:p>
          <a:p>
            <a:r>
              <a:rPr dirty="0"/>
              <a:t>☐ Testing and performance evaluation completed</a:t>
            </a:r>
          </a:p>
          <a:p>
            <a:r>
              <a:rPr dirty="0"/>
              <a:t>☐ Final evaluation completed</a:t>
            </a:r>
          </a:p>
        </p:txBody>
      </p:sp>
      <p:sp>
        <p:nvSpPr>
          <p:cNvPr id="1048708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0" name="TextBox 2"/>
          <p:cNvSpPr txBox="1"/>
          <p:nvPr/>
        </p:nvSpPr>
        <p:spPr>
          <a:xfrm>
            <a:off x="502920" y="118872"/>
            <a:ext cx="1930073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Future Work</a:t>
            </a:r>
          </a:p>
        </p:txBody>
      </p:sp>
      <p:sp>
        <p:nvSpPr>
          <p:cNvPr id="1048711" name="TextBox 3"/>
          <p:cNvSpPr txBox="1"/>
          <p:nvPr/>
        </p:nvSpPr>
        <p:spPr>
          <a:xfrm>
            <a:off x="11292840" y="137160"/>
            <a:ext cx="3733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1048712" name="TextBox 4"/>
          <p:cNvSpPr txBox="1"/>
          <p:nvPr/>
        </p:nvSpPr>
        <p:spPr>
          <a:xfrm>
            <a:off x="731520" y="1143000"/>
            <a:ext cx="10515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5F6973"/>
                </a:solidFill>
              </a:defRPr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Complete the game environment and core gameplay implementation.</a:t>
            </a:r>
          </a:p>
          <a:p>
            <a:r>
              <a:rPr dirty="0" smtClean="0"/>
              <a:t>Integrate </a:t>
            </a:r>
            <a:r>
              <a:rPr dirty="0" err="1" smtClean="0"/>
              <a:t>Minimax</a:t>
            </a:r>
            <a:r>
              <a:rPr dirty="0" smtClean="0"/>
              <a:t> with Alpha-Beta Pruning into the NPC decision system.</a:t>
            </a:r>
          </a:p>
          <a:p>
            <a:r>
              <a:rPr dirty="0" smtClean="0"/>
              <a:t>Complete </a:t>
            </a:r>
            <a:r>
              <a:rPr dirty="0"/>
              <a:t>FSM behaviors, perception and A* navigation.</a:t>
            </a:r>
          </a:p>
          <a:p>
            <a:r>
              <a:rPr dirty="0"/>
              <a:t>Conduct experiments for path length, nodes explored and decision time.</a:t>
            </a:r>
          </a:p>
          <a:p>
            <a:r>
              <a:rPr dirty="0"/>
              <a:t>Compare </a:t>
            </a:r>
            <a:r>
              <a:rPr dirty="0" err="1"/>
              <a:t>Minimax</a:t>
            </a:r>
            <a:r>
              <a:rPr dirty="0"/>
              <a:t> and Alpha-Beta performance.</a:t>
            </a:r>
          </a:p>
          <a:p>
            <a:r>
              <a:rPr dirty="0"/>
              <a:t>Prepare final demonstration, documentation and evaluation.</a:t>
            </a:r>
          </a:p>
        </p:txBody>
      </p:sp>
      <p:sp>
        <p:nvSpPr>
          <p:cNvPr id="1048713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5" name="TextBox 2"/>
          <p:cNvSpPr txBox="1"/>
          <p:nvPr/>
        </p:nvSpPr>
        <p:spPr>
          <a:xfrm>
            <a:off x="502920" y="118872"/>
            <a:ext cx="1744980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Conclusion</a:t>
            </a:r>
          </a:p>
        </p:txBody>
      </p:sp>
      <p:sp>
        <p:nvSpPr>
          <p:cNvPr id="1048716" name="TextBox 3"/>
          <p:cNvSpPr txBox="1"/>
          <p:nvPr/>
        </p:nvSpPr>
        <p:spPr>
          <a:xfrm>
            <a:off x="11292840" y="137160"/>
            <a:ext cx="36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1048717" name="TextBox 4"/>
          <p:cNvSpPr txBox="1"/>
          <p:nvPr/>
        </p:nvSpPr>
        <p:spPr>
          <a:xfrm>
            <a:off x="731520" y="1371600"/>
            <a:ext cx="105156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100" b="0">
                <a:solidFill>
                  <a:srgbClr val="5F697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Detective proposes a top-down stealth game with an intelligent security guard NPC.</a:t>
            </a:r>
          </a:p>
          <a:p>
            <a:r>
              <a:rPr dirty="0"/>
              <a:t>Its main contribution is the integration of perception, </a:t>
            </a:r>
            <a:r>
              <a:rPr dirty="0" err="1"/>
              <a:t>Minimax</a:t>
            </a:r>
            <a:r>
              <a:rPr dirty="0"/>
              <a:t> decision-making, FSM behavior and A* navigation.</a:t>
            </a:r>
          </a:p>
          <a:p>
            <a:r>
              <a:rPr dirty="0"/>
              <a:t>The NPC reacts to noise and line-of-sight information rather than continuously knowing the player's position.</a:t>
            </a:r>
          </a:p>
          <a:p>
            <a:r>
              <a:rPr dirty="0"/>
              <a:t>The project provides a practical demonstration of classical AI techniques in an interactive game.</a:t>
            </a:r>
          </a:p>
        </p:txBody>
      </p:sp>
      <p:sp>
        <p:nvSpPr>
          <p:cNvPr id="1048718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0" name="TextBox 2"/>
          <p:cNvSpPr txBox="1"/>
          <p:nvPr/>
        </p:nvSpPr>
        <p:spPr>
          <a:xfrm>
            <a:off x="502920" y="118872"/>
            <a:ext cx="1791960" cy="45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/>
              <a:t>References</a:t>
            </a:r>
          </a:p>
        </p:txBody>
      </p:sp>
      <p:sp>
        <p:nvSpPr>
          <p:cNvPr id="1048721" name="TextBox 3"/>
          <p:cNvSpPr txBox="1"/>
          <p:nvPr/>
        </p:nvSpPr>
        <p:spPr>
          <a:xfrm>
            <a:off x="11292840" y="137160"/>
            <a:ext cx="3733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048722" name="TextBox 4"/>
          <p:cNvSpPr txBox="1"/>
          <p:nvPr/>
        </p:nvSpPr>
        <p:spPr>
          <a:xfrm>
            <a:off x="731520" y="1143000"/>
            <a:ext cx="10515600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5F6973"/>
                </a:solidFill>
              </a:defRPr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[1] Hart, P. E., Nilsson, N. J., &amp; Raphael, B. (1968). A Formal Basis for the Heuristic Determination of Minimum Cost Paths.</a:t>
            </a:r>
          </a:p>
          <a:p>
            <a:r>
              <a:rPr dirty="0" smtClean="0"/>
              <a:t>    https://doi.org/10.1109/TSSC.1968.300136</a:t>
            </a:r>
          </a:p>
          <a:p>
            <a:r>
              <a:rPr dirty="0" smtClean="0"/>
              <a:t>[2] Millington, I., &amp; </a:t>
            </a:r>
            <a:r>
              <a:rPr dirty="0" err="1" smtClean="0"/>
              <a:t>Funge</a:t>
            </a:r>
            <a:r>
              <a:rPr dirty="0" smtClean="0"/>
              <a:t>, J. (2016). Artificial Intelligence for Games.</a:t>
            </a:r>
          </a:p>
          <a:p>
            <a:r>
              <a:rPr dirty="0" smtClean="0"/>
              <a:t>    </a:t>
            </a:r>
            <a:r>
              <a:rPr dirty="0"/>
              <a:t>https://www.routledge.com/Artificial-Intelligence-for-Games/Millington-Funge/p/book/9780123747310</a:t>
            </a:r>
          </a:p>
          <a:p>
            <a:r>
              <a:rPr dirty="0"/>
              <a:t>[3] </a:t>
            </a:r>
            <a:r>
              <a:rPr dirty="0" err="1"/>
              <a:t>Yannakakis</a:t>
            </a:r>
            <a:r>
              <a:rPr dirty="0"/>
              <a:t>, G. N., &amp; </a:t>
            </a:r>
            <a:r>
              <a:rPr dirty="0" err="1"/>
              <a:t>Togelius</a:t>
            </a:r>
            <a:r>
              <a:rPr dirty="0"/>
              <a:t>, J. (2018). Artificial Intelligence and Games.</a:t>
            </a:r>
          </a:p>
          <a:p>
            <a:r>
              <a:rPr dirty="0"/>
              <a:t>    https://doi.org/10.1007/978-3-319-63519-4</a:t>
            </a:r>
          </a:p>
          <a:p>
            <a:r>
              <a:rPr dirty="0"/>
              <a:t>[4] Russell, S., &amp; </a:t>
            </a:r>
            <a:r>
              <a:rPr dirty="0" err="1"/>
              <a:t>Norvig</a:t>
            </a:r>
            <a:r>
              <a:rPr dirty="0"/>
              <a:t>, P. Artificial Intelligence: A Modern Approach.</a:t>
            </a:r>
          </a:p>
          <a:p>
            <a:r>
              <a:rPr dirty="0" smtClean="0"/>
              <a:t>    https://aima.cs.berkeley.edu/</a:t>
            </a:r>
            <a:endParaRPr dirty="0"/>
          </a:p>
        </p:txBody>
      </p:sp>
      <p:sp>
        <p:nvSpPr>
          <p:cNvPr id="1048723" name="TextBox 5"/>
          <p:cNvSpPr txBox="1"/>
          <p:nvPr/>
        </p:nvSpPr>
        <p:spPr>
          <a:xfrm>
            <a:off x="502920" y="6473952"/>
            <a:ext cx="3743593" cy="231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rPr/>
              <a:t>Department of Cyber Security  |  Project Review – 1  | 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1341</Words>
  <Application>Microsoft Office PowerPoint</Application>
  <PresentationFormat>Widescreen</PresentationFormat>
  <Paragraphs>232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DELL</cp:lastModifiedBy>
  <cp:revision>7</cp:revision>
  <dcterms:created xsi:type="dcterms:W3CDTF">2013-01-26T11:14:16Z</dcterms:created>
  <dcterms:modified xsi:type="dcterms:W3CDTF">2026-09-25T09:10:59Z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e069733368634e77bcc920cdbc8cb161_23</vt:lpwstr>
  </property>
</Properties>
</file>