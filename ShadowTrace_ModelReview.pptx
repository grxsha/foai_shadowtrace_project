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1" r:id="rId6"/>
    <p:sldId id="274" r:id="rId7"/>
    <p:sldId id="272" r:id="rId8"/>
    <p:sldId id="273" r:id="rId9"/>
    <p:sldId id="260" r:id="rId10"/>
    <p:sldId id="268" r:id="rId11"/>
    <p:sldId id="275" r:id="rId12"/>
    <p:sldId id="261" r:id="rId13"/>
    <p:sldId id="262" r:id="rId14"/>
    <p:sldId id="269" r:id="rId15"/>
    <p:sldId id="263" r:id="rId16"/>
    <p:sldId id="270" r:id="rId17"/>
    <p:sldId id="264" r:id="rId18"/>
    <p:sldId id="265" r:id="rId19"/>
    <p:sldId id="266" r:id="rId20"/>
    <p:sldId id="267" r:id="rId21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HP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308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Second Review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ShadowTrace: AI-Based Intrusion Detection Game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D19DAE3-8F95-230C-D485-225341D07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889" y="5183902"/>
            <a:ext cx="4388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Dr. S. Bhuvana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Assistant Professor (SG)</a:t>
            </a: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0000" y="5183902"/>
            <a:ext cx="5305312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Grisha P - 2116241901030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400" b="1" dirty="0">
                <a:solidFill>
                  <a:srgbClr val="FF0000"/>
                </a:solidFill>
              </a:rPr>
              <a:t>Nandhini V - 2116241901063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54333" y="980728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 Computer Science and Engineering</a:t>
            </a:r>
          </a:p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(Cyber Security)</a:t>
            </a:r>
          </a:p>
          <a:p>
            <a:endParaRPr lang="en-IN" sz="2800" b="1" dirty="0">
              <a:solidFill>
                <a:srgbClr val="002060"/>
              </a:solidFill>
              <a:latin typeface="Verdana" panose="020B0604030504040204" pitchFamily="34" charset="0"/>
              <a:ea typeface="+mn-ea"/>
              <a:cs typeface="+mn-cs"/>
            </a:endParaRPr>
          </a:p>
        </p:txBody>
      </p:sp>
      <p:pic>
        <p:nvPicPr>
          <p:cNvPr id="12" name="Picture 11" descr="C:\Users\REC\Downloads\REC_Logo_Color_PNG_RGB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933065" cy="98072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1631504" y="1412776"/>
            <a:ext cx="101122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latin typeface="Verdana" panose="020B0604030504040204" pitchFamily="34" charset="0"/>
              </a:rPr>
              <a:t>CS23533– Foundations of Artificial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873101" y="1916832"/>
            <a:ext cx="16033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Verdana" panose="020B0604030504040204" pitchFamily="34" charset="0"/>
              </a:rPr>
              <a:t>2026-2027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80"/>
              </a:spcBef>
            </a:pPr>
            <a:r>
              <a:rPr lang="en-US" sz="2000" b="1" dirty="0"/>
              <a:t>Problem: </a:t>
            </a:r>
            <a:r>
              <a:rPr lang="en-US" sz="2000" dirty="0"/>
              <a:t>Basic game NPCs follow fixed routes or chase with perfect knowledge of the player's position, making stealth gameplay predictable.</a:t>
            </a:r>
          </a:p>
          <a:p>
            <a:pPr>
              <a:spcBef>
                <a:spcPts val="480"/>
              </a:spcBef>
            </a:pPr>
            <a:r>
              <a:rPr lang="en-US" sz="2000" b="1" dirty="0"/>
              <a:t>Need: </a:t>
            </a:r>
            <a:r>
              <a:rPr lang="en-US" sz="2000" dirty="0"/>
              <a:t>A guard that reacts only to what it perceives — noise and line of sight — and then decides, plans a route and acts.</a:t>
            </a:r>
          </a:p>
          <a:p>
            <a:pPr>
              <a:spcBef>
                <a:spcPts val="480"/>
              </a:spcBef>
            </a:pPr>
            <a:r>
              <a:rPr lang="en-US" sz="2000" b="1" dirty="0"/>
              <a:t>Goal: </a:t>
            </a:r>
            <a:r>
              <a:rPr lang="en-US" sz="2000" dirty="0"/>
              <a:t>A top-down stealth game in which the player collects three evidence items and escapes without being caught.</a:t>
            </a:r>
          </a:p>
          <a:p>
            <a:pPr>
              <a:spcBef>
                <a:spcPts val="480"/>
              </a:spcBef>
            </a:pPr>
            <a:r>
              <a:rPr lang="en-US" sz="2000" b="1" dirty="0"/>
              <a:t>Motivation: </a:t>
            </a:r>
            <a:r>
              <a:rPr lang="en-US" sz="2000" dirty="0"/>
              <a:t>Demonstrate classical AI — A*, FSM, perception, Minimax and Alpha–Beta pruning — working together in one small, measurable system.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900" indent="-317500">
              <a:spcBef>
                <a:spcPts val="480"/>
              </a:spcBef>
              <a:buNone/>
            </a:pPr>
            <a:r>
              <a:rPr lang="en-US" sz="2000" dirty="0"/>
              <a:t>1. Develop a compact grid-based stealth game with walls, three evidence items and an exit.</a:t>
            </a:r>
          </a:p>
          <a:p>
            <a:pPr marL="469900" indent="-317500">
              <a:spcBef>
                <a:spcPts val="480"/>
              </a:spcBef>
              <a:buNone/>
            </a:pPr>
            <a:r>
              <a:rPr lang="en-US" sz="2000" dirty="0"/>
              <a:t>2. Implement player movement, collision handling and evidence collection.</a:t>
            </a:r>
          </a:p>
          <a:p>
            <a:pPr marL="469900" indent="-317500">
              <a:spcBef>
                <a:spcPts val="480"/>
              </a:spcBef>
              <a:buNone/>
            </a:pPr>
            <a:r>
              <a:rPr lang="en-US" sz="2000" dirty="0"/>
              <a:t>3. Model the guard as an FSM with Patrol, Investigate, Chase and Return states.</a:t>
            </a:r>
          </a:p>
          <a:p>
            <a:pPr marL="469900" indent="-317500">
              <a:spcBef>
                <a:spcPts val="480"/>
              </a:spcBef>
              <a:buNone/>
            </a:pPr>
            <a:r>
              <a:rPr lang="en-US" sz="2000" dirty="0"/>
              <a:t>4. Implement noise events and line-of-sight detection so the guard has limited information.</a:t>
            </a:r>
          </a:p>
          <a:p>
            <a:pPr marL="469900" indent="-317500">
              <a:spcBef>
                <a:spcPts val="480"/>
              </a:spcBef>
              <a:buNone/>
            </a:pPr>
            <a:r>
              <a:rPr lang="en-US" sz="2000" dirty="0"/>
              <a:t>5. Apply A* pathfinding for obstacle-aware navigation.</a:t>
            </a:r>
          </a:p>
          <a:p>
            <a:pPr marL="469900" indent="-317500">
              <a:spcBef>
                <a:spcPts val="480"/>
              </a:spcBef>
              <a:buNone/>
            </a:pPr>
            <a:r>
              <a:rPr lang="en-US" sz="2000" dirty="0"/>
              <a:t>6. Apply Minimax with Alpha–Beta pruning to select the guard's actions.</a:t>
            </a:r>
          </a:p>
          <a:p>
            <a:pPr marL="469900" indent="-317500">
              <a:spcBef>
                <a:spcPts val="480"/>
              </a:spcBef>
              <a:buNone/>
            </a:pPr>
            <a:r>
              <a:rPr lang="en-US" sz="2000" dirty="0"/>
              <a:t>7. Evaluate path length, nodes explored, decision time and response time.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313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Abstract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80"/>
              </a:spcBef>
            </a:pPr>
            <a:r>
              <a:rPr lang="en-US" sz="2000" dirty="0"/>
              <a:t>ShadowTrace is a top-down stealth game built with Python and Pygame. The player, an intruder, must collect three evidence items and escape through the exit.</a:t>
            </a:r>
          </a:p>
          <a:p>
            <a:pPr>
              <a:spcBef>
                <a:spcPts val="480"/>
              </a:spcBef>
            </a:pPr>
            <a:r>
              <a:rPr lang="en-US" sz="2000" dirty="0"/>
              <a:t>A security-guard NPC never knows the player's exact position; it perceives the world only through noise events and line-of-sight checks.</a:t>
            </a:r>
          </a:p>
          <a:p>
            <a:pPr>
              <a:spcBef>
                <a:spcPts val="480"/>
              </a:spcBef>
            </a:pPr>
            <a:r>
              <a:rPr lang="en-US" sz="2000" dirty="0"/>
              <a:t>A finite state machine controls four behaviours: Patrol, Investigate, Chase and Return.</a:t>
            </a:r>
          </a:p>
          <a:p>
            <a:pPr>
              <a:spcBef>
                <a:spcPts val="480"/>
              </a:spcBef>
            </a:pPr>
            <a:r>
              <a:rPr lang="en-US" sz="2000" dirty="0"/>
              <a:t>Minimax with Alpha–Beta pruning selects the guard's action, and A* finds the route around obstacles.</a:t>
            </a:r>
          </a:p>
          <a:p>
            <a:pPr>
              <a:spcBef>
                <a:spcPts val="480"/>
              </a:spcBef>
            </a:pPr>
            <a:r>
              <a:rPr lang="en-US" sz="2000" dirty="0"/>
              <a:t>The AI is evaluated on path length, nodes explored, decision time and response time.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4831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29797"/>
              </p:ext>
            </p:extLst>
          </p:nvPr>
        </p:nvGraphicFramePr>
        <p:xfrm>
          <a:off x="623392" y="1752600"/>
          <a:ext cx="11089233" cy="3342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8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7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48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12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43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9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1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Hart, Nilsson &amp; Raphael (1968)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A Formal Basis for the Heuristic Determination of Minimum Cost Paths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A* heuristic search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Efficiency depends on the heuristic and search-space size; covers pathfinding, not NPC behaviour.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2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Rafiq, Abdul Kadir &amp; Ihsan (2020)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Pathfinding Algorithms in Game Development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Review of pathfinding algorithms used in games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Concerned with navigation; perception and decision-making are outside its scope.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3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Jagdale (2021)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Finite State Machine in Game Development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Finite state machines for NPC behaviour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FSMs alone give fixed, rule-based behaviour and do not evaluate future actions.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0445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53339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Literature Survey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Tx/>
              <a:buNone/>
              <a:tabLst/>
              <a:defRPr/>
            </a:pPr>
            <a:br>
              <a:rPr kumimoji="0" lang="en-I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</a:br>
            <a:endParaRPr kumimoji="0" lang="en-IN" alt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D7E4B40-F95E-47F4-B92E-06AFA2A015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0234421"/>
              </p:ext>
            </p:extLst>
          </p:nvPr>
        </p:nvGraphicFramePr>
        <p:xfrm>
          <a:off x="983432" y="1746251"/>
          <a:ext cx="10748320" cy="3284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7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1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25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93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155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43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S. No.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Author(s) &amp; Year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Paper Title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Methodology / Algorithm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2000"/>
                        <a:t>Limitations</a:t>
                      </a:r>
                    </a:p>
                  </a:txBody>
                  <a:tcPr marR="73152" marT="54864" anchor="ctr">
                    <a:solidFill>
                      <a:srgbClr val="2A6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810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4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Millington &amp; Funge (2016)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Artificial Intelligence for Games (3rd ed.)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Game AI techniques: pathfinding, state machines, decision-making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Broad techniques that must be adapted and tuned to a specific game.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810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lang="en-US" sz="1400"/>
                        <a:t>5</a:t>
                      </a:r>
                      <a:endParaRPr sz="1800" dirty="0"/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Orkin (2006)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Three States and a Plan: The AI of F.E.A.R.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Goal-oriented planning with a small set of states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Designed for a larger action game; heavier than a small prototype needs.</a:t>
                      </a:r>
                    </a:p>
                  </a:txBody>
                  <a:tcPr marR="73152" marT="54864" anchor="ctr"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916463"/>
                  </a:ext>
                </a:extLst>
              </a:tr>
              <a:tr h="85810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6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Russell &amp; Norvig (2021)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Artificial Intelligence: A Modern Approach (4th ed.)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Adversarial search: Minimax and Alpha–Beta pruning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D343E"/>
                          </a:solidFill>
                          <a:latin typeface="Aptos"/>
                        </a:defRPr>
                      </a:pPr>
                      <a:r>
                        <a:rPr sz="1400"/>
                        <a:t>Search cost grows quickly with branching factor and depth.</a:t>
                      </a:r>
                    </a:p>
                  </a:txBody>
                  <a:tcPr marR="73152" marT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2195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121602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Research Gap/Existing 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7</a:t>
            </a:fld>
            <a:endParaRPr lang="en-IN"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4FE7899-24E6-401C-9D46-CFAA1E243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52600"/>
            <a:ext cx="5052318" cy="1330000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 marL="0" indent="0">
              <a:spcAft>
                <a:spcPts val="800"/>
              </a:spcAft>
              <a:buNone/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 sz="1700" b="1">
                <a:solidFill>
                  <a:srgbClr val="193054"/>
                </a:solidFill>
                <a:latin typeface="Aptos Display"/>
              </a:rPr>
              <a:t>1. What existing studies do</a:t>
            </a:r>
          </a:p>
          <a:p>
            <a:pPr marL="0" indent="0">
              <a:spcBef>
                <a:spcPts val="200"/>
              </a:spcBef>
              <a:buNone/>
              <a:defRPr sz="1300">
                <a:solidFill>
                  <a:srgbClr val="2D343E"/>
                </a:solidFill>
                <a:latin typeface="Aptos"/>
              </a:defRPr>
            </a:pPr>
            <a:r>
              <a:rPr dirty="0" sz="1300">
                <a:solidFill>
                  <a:srgbClr val="2D343E"/>
                </a:solidFill>
                <a:latin typeface="Aptos"/>
              </a:rPr>
              <a:t>Games typically pair fixed patrol routes or direct chasing with FSMs and A* navigation (Hart et al., 1968; Millington &amp; Funge, 2016; Yannakakis &amp; Togelius, 2018).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F66DAF5-0B91-4093-BD89-5CE7615E431A}"/>
              </a:ext>
            </a:extLst>
          </p:cNvPr>
          <p:cNvSpPr/>
          <p:nvPr/>
        </p:nvSpPr>
        <p:spPr>
          <a:xfrm>
            <a:off x="6096000" y="1752600"/>
            <a:ext cx="5452872" cy="133000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 sz="1700" b="1">
                <a:solidFill>
                  <a:srgbClr val="193054"/>
                </a:solidFill>
                <a:latin typeface="Aptos Display"/>
              </a:rPr>
              <a:t>2. Limitations observed</a:t>
            </a:r>
          </a:p>
          <a:p>
            <a:pPr>
              <a:spcBef>
                <a:spcPts val="200"/>
              </a:spcBef>
              <a:defRPr sz="1300">
                <a:solidFill>
                  <a:srgbClr val="2D343E"/>
                </a:solidFill>
                <a:latin typeface="Aptos"/>
              </a:defRPr>
            </a:pPr>
            <a:r>
              <a:rPr dirty="0" sz="1300">
                <a:solidFill>
                  <a:srgbClr val="2D343E"/>
                </a:solidFill>
                <a:latin typeface="Aptos"/>
              </a:rPr>
              <a:t>The guard often knows the player's position, reacts with simple patrol/chase rules and does not weigh future actions; FSMs alone are rule-based.</a:t>
            </a:r>
          </a:p>
        </p:txBody>
      </p:sp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85599EEB-0FFB-4C94-AB5E-41D5A47FE9B6}"/>
              </a:ext>
            </a:extLst>
          </p:cNvPr>
          <p:cNvSpPr/>
          <p:nvPr/>
        </p:nvSpPr>
        <p:spPr>
          <a:xfrm>
            <a:off x="766233" y="3645024"/>
            <a:ext cx="5177367" cy="1584176"/>
          </a:xfrm>
          <a:prstGeom prst="roundRect">
            <a:avLst/>
          </a:prstGeom>
          <a:solidFill>
            <a:srgbClr val="EBF2FA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 sz="1700" b="1">
                <a:solidFill>
                  <a:srgbClr val="193054"/>
                </a:solidFill>
                <a:latin typeface="Aptos Display"/>
              </a:rPr>
              <a:t>3. Research gap</a:t>
            </a:r>
          </a:p>
          <a:p>
            <a:pPr>
              <a:spcBef>
                <a:spcPts val="200"/>
              </a:spcBef>
              <a:defRPr sz="1300">
                <a:solidFill>
                  <a:srgbClr val="2D343E"/>
                </a:solidFill>
                <a:latin typeface="Aptos"/>
              </a:defRPr>
            </a:pPr>
            <a:r>
              <a:rPr dirty="0" sz="1300">
                <a:solidFill>
                  <a:srgbClr val="2D343E"/>
                </a:solidFill>
                <a:latin typeface="Aptos"/>
              </a:rPr>
              <a:t>The reviewed studies treat navigation, state machines and adversarial search separately. Combining noise-based investigation, visual detection, FSM behaviour, A* and Minimax with Alpha–Beta pruning in one limited-information guard remains to be shown.</a:t>
            </a:r>
          </a:p>
        </p:txBody>
      </p:sp>
      <p:sp>
        <p:nvSpPr>
          <p:cNvPr id="24" name="Rounded Rectangle 6">
            <a:extLst>
              <a:ext uri="{FF2B5EF4-FFF2-40B4-BE49-F238E27FC236}">
                <a16:creationId xmlns:a16="http://schemas.microsoft.com/office/drawing/2014/main" id="{C31116F3-B074-468F-82D6-F9C068878439}"/>
              </a:ext>
            </a:extLst>
          </p:cNvPr>
          <p:cNvSpPr/>
          <p:nvPr/>
        </p:nvSpPr>
        <p:spPr>
          <a:xfrm>
            <a:off x="6199632" y="3794760"/>
            <a:ext cx="5349240" cy="1434440"/>
          </a:xfrm>
          <a:prstGeom prst="roundRect">
            <a:avLst/>
          </a:prstGeom>
          <a:solidFill>
            <a:srgbClr val="F7F9FC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01168" tIns="146304" rIns="164592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193054"/>
                </a:solidFill>
                <a:latin typeface="Aptos Display"/>
              </a:defRPr>
            </a:pPr>
            <a:r>
              <a:rPr dirty="0" sz="1700" b="1">
                <a:solidFill>
                  <a:srgbClr val="193054"/>
                </a:solidFill>
                <a:latin typeface="Aptos Display"/>
              </a:rPr>
              <a:t>4. How our project responds</a:t>
            </a:r>
          </a:p>
          <a:p>
            <a:pPr>
              <a:spcBef>
                <a:spcPts val="200"/>
              </a:spcBef>
              <a:defRPr sz="1300">
                <a:solidFill>
                  <a:srgbClr val="2D343E"/>
                </a:solidFill>
                <a:latin typeface="Aptos"/>
              </a:defRPr>
            </a:pPr>
            <a:r>
              <a:rPr dirty="0" sz="1300">
                <a:solidFill>
                  <a:srgbClr val="2D343E"/>
                </a:solidFill>
                <a:latin typeface="Aptos"/>
              </a:rPr>
              <a:t>ShadowTrace integrates perception, Minimax + Alpha–Beta decisions, FSM behaviour and A* navigation in one security guard, and measures path length, nodes explored, decision time and response time.</a:t>
            </a:r>
          </a:p>
        </p:txBody>
      </p:sp>
    </p:spTree>
    <p:extLst>
      <p:ext uri="{BB962C8B-B14F-4D97-AF65-F5344CB8AC3E}">
        <p14:creationId xmlns:p14="http://schemas.microsoft.com/office/powerpoint/2010/main" val="46315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Proposed System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752600"/>
            <a:ext cx="4900000" cy="4267200"/>
          </a:xfrm>
        </p:spPr>
        <p:txBody>
          <a:bodyPr/>
          <a:lstStyle/>
          <a:p>
            <a:pPr>
              <a:spcBef>
                <a:spcPts val="700"/>
              </a:spcBef>
            </a:pPr>
            <a:r>
              <a:rPr lang="en-US" sz="1800" b="1" dirty="0"/>
              <a:t>Grid environment: </a:t>
            </a:r>
            <a:r>
              <a:rPr lang="en-US" sz="1800" dirty="0"/>
              <a:t>walls, three evidence items and an exit.</a:t>
            </a:r>
          </a:p>
          <a:p>
            <a:pPr>
              <a:spcBef>
                <a:spcPts val="700"/>
              </a:spcBef>
            </a:pPr>
            <a:r>
              <a:rPr lang="en-US" sz="1800" b="1" dirty="0"/>
              <a:t>Perception: </a:t>
            </a:r>
            <a:r>
              <a:rPr lang="en-US" sz="1800" dirty="0"/>
              <a:t>noise events and line-of-sight checks give limited information.</a:t>
            </a:r>
          </a:p>
          <a:p>
            <a:pPr>
              <a:spcBef>
                <a:spcPts val="700"/>
              </a:spcBef>
            </a:pPr>
            <a:r>
              <a:rPr lang="en-US" sz="1800" b="1" dirty="0"/>
              <a:t>Minimax + Alpha–Beta: </a:t>
            </a:r>
            <a:r>
              <a:rPr lang="en-US" sz="1800" dirty="0"/>
              <a:t>chooses Investigate Noise or Continue Patrol.</a:t>
            </a:r>
          </a:p>
          <a:p>
            <a:pPr>
              <a:spcBef>
                <a:spcPts val="700"/>
              </a:spcBef>
            </a:pPr>
            <a:r>
              <a:rPr lang="en-US" sz="1800" b="1" dirty="0"/>
              <a:t>FSM: </a:t>
            </a:r>
            <a:r>
              <a:rPr lang="en-US" sz="1800" dirty="0"/>
              <a:t>Patrol → Investigate → Chase → Return.</a:t>
            </a:r>
          </a:p>
          <a:p>
            <a:pPr>
              <a:spcBef>
                <a:spcPts val="700"/>
              </a:spcBef>
            </a:pPr>
            <a:r>
              <a:rPr lang="en-US" sz="1800" b="1" dirty="0"/>
              <a:t>A*: </a:t>
            </a:r>
            <a:r>
              <a:rPr lang="en-US" sz="1800" dirty="0"/>
              <a:t>shortest route around obstacles to the chosen target.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8</a:t>
            </a:fld>
            <a:endParaRPr lang="en-IN"/>
          </a:p>
        </p:txBody>
      </p:sp>
      <p:pic>
        <p:nvPicPr>
          <p:cNvPr id="7" name="System Architecture" descr="System architecture of ShadowTra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0000" y="2150000"/>
            <a:ext cx="5900000" cy="331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77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DFD Diagram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9</a:t>
            </a:fld>
            <a:endParaRPr lang="en-IN"/>
          </a:p>
        </p:txBody>
      </p:sp>
      <p:pic>
        <p:nvPicPr>
          <p:cNvPr id="7" name="DFD" descr="DFD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979" y="1660600"/>
            <a:ext cx="7902034" cy="444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77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3200" b="1" dirty="0">
                <a:solidFill>
                  <a:srgbClr val="FF0000"/>
                </a:solidFill>
              </a:rPr>
              <a:t>Methodology/Work Flow Diagram</a:t>
            </a:r>
            <a:endParaRPr lang="en-IN" sz="2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10</a:t>
            </a:fld>
            <a:endParaRPr lang="en-IN"/>
          </a:p>
        </p:txBody>
      </p:sp>
      <p:pic>
        <p:nvPicPr>
          <p:cNvPr id="7" name="Workflow" descr="Workflow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979" y="1660600"/>
            <a:ext cx="7902034" cy="444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815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Tools and Technologies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n-US" sz="1800" b="1" dirty="0"/>
              <a:t>Programming language: </a:t>
            </a:r>
            <a:r>
              <a:rPr lang="en-US" sz="1800" dirty="0"/>
              <a:t>Python 3.x</a:t>
            </a:r>
          </a:p>
          <a:p>
            <a:pPr>
              <a:spcBef>
                <a:spcPts val="600"/>
              </a:spcBef>
            </a:pPr>
            <a:r>
              <a:rPr lang="en-US" sz="1800" b="1" dirty="0"/>
              <a:t>Framework / library: </a:t>
            </a:r>
            <a:r>
              <a:rPr lang="en-US" sz="1800" dirty="0"/>
              <a:t>Pygame — 2D graphics, keyboard input, game loop, collision handling</a:t>
            </a:r>
          </a:p>
          <a:p>
            <a:pPr>
              <a:spcBef>
                <a:spcPts val="600"/>
              </a:spcBef>
            </a:pPr>
            <a:r>
              <a:rPr lang="en-US" sz="1800" b="1" dirty="0"/>
              <a:t>Algorithms: </a:t>
            </a:r>
            <a:r>
              <a:rPr lang="en-US" sz="1800" dirty="0"/>
              <a:t>A* (Manhattan heuristic), FSM, Minimax, Alpha–Beta pruning</a:t>
            </a:r>
          </a:p>
          <a:p>
            <a:pPr>
              <a:spcBef>
                <a:spcPts val="600"/>
              </a:spcBef>
            </a:pPr>
            <a:r>
              <a:rPr lang="en-US" sz="1800" b="1" dirty="0"/>
              <a:t>Perception: </a:t>
            </a:r>
            <a:r>
              <a:rPr lang="en-US" sz="1800" dirty="0"/>
              <a:t>line-of-sight and noise detection</a:t>
            </a:r>
          </a:p>
          <a:p>
            <a:pPr>
              <a:spcBef>
                <a:spcPts val="600"/>
              </a:spcBef>
            </a:pPr>
            <a:r>
              <a:rPr lang="en-US" sz="1800" b="1" dirty="0"/>
              <a:t>Software: </a:t>
            </a:r>
            <a:r>
              <a:rPr lang="en-US" sz="1800" dirty="0"/>
              <a:t>VS Code; Windows / Linux</a:t>
            </a:r>
          </a:p>
          <a:p>
            <a:pPr>
              <a:spcBef>
                <a:spcPts val="600"/>
              </a:spcBef>
            </a:pPr>
            <a:r>
              <a:rPr lang="en-US" sz="1800" b="1" dirty="0"/>
              <a:t>Hardware: </a:t>
            </a:r>
            <a:r>
              <a:rPr lang="en-US" sz="1800" dirty="0"/>
              <a:t>Intel Core i3 or above, 4 GB RAM, 500 MB storage, standard display and keyboard</a:t>
            </a:r>
          </a:p>
          <a:p>
            <a:pPr>
              <a:spcBef>
                <a:spcPts val="600"/>
              </a:spcBef>
            </a:pPr>
            <a:r>
              <a:rPr lang="en-US" sz="1800" b="1" dirty="0"/>
              <a:t>Dataset: </a:t>
            </a:r>
            <a:r>
              <a:rPr lang="en-US" sz="1800" dirty="0"/>
              <a:t>none required — 30×24 facility maps are generated in the game; test scenarios are designed manually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475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List of Modules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900" indent="-317500">
              <a:spcBef>
                <a:spcPts val="600"/>
              </a:spcBef>
              <a:buNone/>
            </a:pPr>
            <a:r>
              <a:rPr lang="en-US" sz="2400" dirty="0"/>
              <a:t>1. Grid Map and Collision System</a:t>
            </a:r>
          </a:p>
          <a:p>
            <a:pPr marL="469900" indent="-317500">
              <a:spcBef>
                <a:spcPts val="600"/>
              </a:spcBef>
              <a:buNone/>
            </a:pPr>
            <a:r>
              <a:rPr lang="en-US" sz="2400" dirty="0"/>
              <a:t>2. Player Movement and Interaction</a:t>
            </a:r>
          </a:p>
          <a:p>
            <a:pPr marL="469900" indent="-317500">
              <a:spcBef>
                <a:spcPts val="600"/>
              </a:spcBef>
              <a:buNone/>
            </a:pPr>
            <a:r>
              <a:rPr lang="en-US" sz="2400" dirty="0"/>
              <a:t>3. Evidence Collection and Escape Condition</a:t>
            </a:r>
          </a:p>
          <a:p>
            <a:pPr marL="469900" indent="-317500">
              <a:spcBef>
                <a:spcPts val="600"/>
              </a:spcBef>
              <a:buNone/>
            </a:pPr>
            <a:r>
              <a:rPr lang="en-US" sz="2400" dirty="0"/>
              <a:t>4. Noise and Line-of-Sight Perception</a:t>
            </a:r>
          </a:p>
          <a:p>
            <a:pPr marL="469900" indent="-317500">
              <a:spcBef>
                <a:spcPts val="600"/>
              </a:spcBef>
              <a:buNone/>
            </a:pPr>
            <a:r>
              <a:rPr lang="en-US" sz="2400" dirty="0"/>
              <a:t>5. Guard FSM (Patrol, Investigate, Chase, Return)</a:t>
            </a:r>
          </a:p>
          <a:p>
            <a:pPr marL="469900" indent="-317500">
              <a:spcBef>
                <a:spcPts val="600"/>
              </a:spcBef>
              <a:buNone/>
            </a:pPr>
            <a:r>
              <a:rPr lang="en-US" sz="2400" dirty="0"/>
              <a:t>6. A* Pathfinding</a:t>
            </a:r>
          </a:p>
          <a:p>
            <a:pPr marL="469900" indent="-317500">
              <a:spcBef>
                <a:spcPts val="600"/>
              </a:spcBef>
              <a:buNone/>
            </a:pPr>
            <a:r>
              <a:rPr lang="en-US" sz="2400" dirty="0"/>
              <a:t>7. Minimax with Alpha–Beta Pruning</a:t>
            </a:r>
          </a:p>
          <a:p>
            <a:pPr marL="469900" indent="-317500">
              <a:spcBef>
                <a:spcPts val="600"/>
              </a:spcBef>
              <a:buNone/>
            </a:pPr>
            <a:r>
              <a:rPr lang="en-US" sz="2400" dirty="0"/>
              <a:t>8. Testing and Performance Evaluation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015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 (Modules 1–4)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1000"/>
              </a:spcBef>
              <a:buNone/>
            </a:pPr>
            <a:r>
              <a:rPr lang="en-US" sz="1800" b="1" dirty="0"/>
              <a:t>Module 1 – Grid Map and Collision System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/>
              <a:t>Represents the 30×24 facility as walkable cells, walls, evidence locations and an exit; blocks moves into walls and outside the map.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1800" b="1" dirty="0"/>
              <a:t>Module 2 – Player Movement and Interaction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/>
              <a:t>Reads WASD input and moves the player one cell at a time with collision checks; interaction picks up evidence.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1800" b="1" dirty="0"/>
              <a:t>Module 3 – Evidence Collection and Escape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/>
              <a:t>Tracks the three evidence items (each collectable once) and ends the game with an escape when the player reaches the exit.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1800" b="1" dirty="0"/>
              <a:t>Module 4 – Noise and Line-of-Sight Perception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/>
              <a:t>Creates noise events at evidence locations and checks the guard's limited-range vision, so the guard never receives the player's exact position.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529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Module Description (Modules 5–8)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1000"/>
              </a:spcBef>
              <a:buNone/>
            </a:pPr>
            <a:r>
              <a:rPr lang="en-US" sz="1800" b="1" dirty="0"/>
              <a:t>Module 5 – Guard FSM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/>
              <a:t>Switches between Patrol, Investigate, Chase and Return from perception events; validates state and path after important events.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1800" b="1" dirty="0"/>
              <a:t>Module 6 – A* Pathfinding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/>
              <a:t>Grid search using movement cost and a Manhattan-distance heuristic; recalculates when a target becomes unreachable or a path is invalid.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1800" b="1" dirty="0"/>
              <a:t>Module 7 – Minimax with Alpha–Beta Pruning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/>
              <a:t>Shallow search over guard choices (Investigate Noise, Continue Patrol) with a simple evaluation function; pruning removes unneeded branches.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sz="1800" b="1" dirty="0"/>
              <a:t>Module 8 – Testing and Performance Evaluation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dirty="0"/>
              <a:t>Runs repeatable scenarios and records path length, nodes explored, decision time and response time, with and without Alpha–Beta pruning.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1953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b="1" dirty="0">
                <a:solidFill>
                  <a:srgbClr val="FF0000"/>
                </a:solidFill>
              </a:rPr>
              <a:t>Results &amp; Discussion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en-US" sz="1800" b="1" dirty="0"/>
              <a:t>Test scenarios</a:t>
            </a:r>
          </a:p>
          <a:p>
            <a:pPr>
              <a:spcBef>
                <a:spcPts val="300"/>
              </a:spcBef>
            </a:pPr>
            <a:r>
              <a:rPr lang="en-US" sz="1800" dirty="0"/>
              <a:t>Quiet movement outside the guard's vision → guard stays on Patrol</a:t>
            </a:r>
          </a:p>
          <a:p>
            <a:pPr>
              <a:spcBef>
                <a:spcPts val="300"/>
              </a:spcBef>
            </a:pPr>
            <a:r>
              <a:rPr lang="en-US" sz="1800" dirty="0"/>
              <a:t>Noise at an evidence location → guard switches to Investigate</a:t>
            </a:r>
          </a:p>
          <a:p>
            <a:pPr>
              <a:spcBef>
                <a:spcPts val="300"/>
              </a:spcBef>
            </a:pPr>
            <a:r>
              <a:rPr lang="en-US" sz="1800" dirty="0"/>
              <a:t>Player enters line of sight → guard switches to Chase</a:t>
            </a:r>
          </a:p>
          <a:p>
            <a:pPr>
              <a:spcBef>
                <a:spcPts val="300"/>
              </a:spcBef>
            </a:pPr>
            <a:r>
              <a:rPr lang="en-US" sz="1800" dirty="0"/>
              <a:t>Player leaves vision → guard moves to Return, then Patrol</a:t>
            </a:r>
          </a:p>
          <a:p>
            <a:pPr>
              <a:spcBef>
                <a:spcPts val="300"/>
              </a:spcBef>
            </a:pPr>
            <a:r>
              <a:rPr lang="en-US" sz="1800" dirty="0"/>
              <a:t>All evidence collected and exit reached → Mission Accomplished; caught → Mission Compromised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b="1" dirty="0"/>
              <a:t>Observations</a:t>
            </a:r>
          </a:p>
          <a:p>
            <a:pPr>
              <a:spcBef>
                <a:spcPts val="300"/>
              </a:spcBef>
            </a:pPr>
            <a:r>
              <a:rPr lang="en-US" sz="1800" dirty="0"/>
              <a:t>State transitions and A* routes around obstacles behaved consistently across repeated runs</a:t>
            </a:r>
          </a:p>
          <a:p>
            <a:pPr>
              <a:spcBef>
                <a:spcPts val="300"/>
              </a:spcBef>
            </a:pPr>
            <a:r>
              <a:rPr lang="en-US" sz="1800" dirty="0"/>
              <a:t>Alpha–Beta pruning gives the same decision as Minimax while searching fewer nodes</a:t>
            </a:r>
          </a:p>
          <a:p>
            <a:pPr>
              <a:spcBef>
                <a:spcPts val="300"/>
              </a:spcBef>
            </a:pPr>
            <a:r>
              <a:rPr lang="en-US" sz="1800" dirty="0"/>
              <a:t>Metrics recorded: path length, nodes explored, decision time, response time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638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664CE-7311-4C5B-AA2E-45ABB90D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User Interface / Screenshots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6B9F7-E796-4F54-83AC-54CFC2ABC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0000" y="1600000"/>
            <a:ext cx="3750000" cy="4500000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1600" b="1" dirty="0"/>
              <a:t>What the screens show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HUD: INTEL count (x/3), current AI state and the NODES α-β counter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Patrol: guard sweeps its vision cone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Chase: guard has detected the player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Mission Compromised: player caught by the guard</a:t>
            </a:r>
          </a:p>
          <a:p>
            <a:pPr>
              <a:spcBef>
                <a:spcPts val="600"/>
              </a:spcBef>
            </a:pPr>
            <a:r>
              <a:rPr lang="en-US" sz="1400" dirty="0"/>
              <a:t>Mission Accomplished: all evidence collected, player escaped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E2C3-AC88-4E92-99FF-8D9C75D34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Model Review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4BBD9-F4E8-4A60-9A83-C40083E30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6318D-05CC-4803-9541-7064C44F7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pic>
        <p:nvPicPr>
          <p:cNvPr id="7" name="Screenshot Patrol" descr="Gameplay screenshot: Patro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00" y="1620000"/>
            <a:ext cx="3300000" cy="2178000"/>
          </a:xfrm>
          <a:prstGeom prst="rect">
            <a:avLst/>
          </a:prstGeom>
        </p:spPr>
      </p:pic>
      <p:pic>
        <p:nvPicPr>
          <p:cNvPr id="8" name="Screenshot Chase" descr="Gameplay screenshot: Ch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000" y="1620000"/>
            <a:ext cx="3300000" cy="2178000"/>
          </a:xfrm>
          <a:prstGeom prst="rect">
            <a:avLst/>
          </a:prstGeom>
        </p:spPr>
      </p:pic>
      <p:pic>
        <p:nvPicPr>
          <p:cNvPr id="9" name="Screenshot Mission Compromised" descr="Gameplay screenshot: Mission Compromis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000" y="3920000"/>
            <a:ext cx="3300000" cy="2178000"/>
          </a:xfrm>
          <a:prstGeom prst="rect">
            <a:avLst/>
          </a:prstGeom>
        </p:spPr>
      </p:pic>
      <p:pic>
        <p:nvPicPr>
          <p:cNvPr id="10" name="Screenshot Mission Accomplished" descr="Gameplay screenshot: Mission Accomplish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000" y="3920000"/>
            <a:ext cx="3300000" cy="217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265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200" b="1" dirty="0">
                <a:solidFill>
                  <a:srgbClr val="FF0000"/>
                </a:solidFill>
              </a:rPr>
              <a:t>Conclusion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80"/>
              </a:spcBef>
            </a:pPr>
            <a:r>
              <a:rPr lang="en-US" sz="2000" dirty="0"/>
              <a:t>ShadowTrace delivers a top-down stealth game with an intelligent security guard built from classical AI techniques.</a:t>
            </a:r>
          </a:p>
          <a:p>
            <a:pPr>
              <a:spcBef>
                <a:spcPts val="480"/>
              </a:spcBef>
            </a:pPr>
            <a:r>
              <a:rPr lang="en-US" sz="2000" dirty="0"/>
              <a:t>Noise and line-of-sight perception give the guard limited, realistic information about the player.</a:t>
            </a:r>
          </a:p>
          <a:p>
            <a:pPr>
              <a:spcBef>
                <a:spcPts val="480"/>
              </a:spcBef>
            </a:pPr>
            <a:r>
              <a:rPr lang="en-US" sz="2000" dirty="0"/>
              <a:t>Minimax with Alpha–Beta pruning decides what to do, the FSM manages behaviour, and A* finds how to get there.</a:t>
            </a:r>
          </a:p>
          <a:p>
            <a:pPr>
              <a:spcBef>
                <a:spcPts val="480"/>
              </a:spcBef>
            </a:pPr>
            <a:r>
              <a:rPr lang="en-US" sz="2000" dirty="0"/>
              <a:t>The modular design made each component testable and the guard's behaviour measurable.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1662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Future Work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80"/>
              </a:spcBef>
            </a:pPr>
            <a:r>
              <a:rPr lang="en-US" sz="2000" dirty="0"/>
              <a:t>Add multiple guards that share information and search cooperatively.</a:t>
            </a:r>
          </a:p>
          <a:p>
            <a:pPr>
              <a:spcBef>
                <a:spcPts val="480"/>
              </a:spcBef>
            </a:pPr>
            <a:r>
              <a:rPr lang="en-US" sz="2000" dirty="0"/>
              <a:t>Extend to larger, more varied maps and difficulty levels.</a:t>
            </a:r>
          </a:p>
          <a:p>
            <a:pPr>
              <a:spcBef>
                <a:spcPts val="480"/>
              </a:spcBef>
            </a:pPr>
            <a:r>
              <a:rPr lang="en-US" sz="2000" dirty="0"/>
              <a:t>Deepen the Minimax search and refine the evaluation function, measuring the effect on decision time.</a:t>
            </a:r>
          </a:p>
          <a:p>
            <a:pPr>
              <a:spcBef>
                <a:spcPts val="480"/>
              </a:spcBef>
            </a:pPr>
            <a:r>
              <a:rPr lang="en-US" sz="2000" dirty="0"/>
              <a:t>Model noise by player action (walking vs. running) and distance.</a:t>
            </a:r>
          </a:p>
          <a:p>
            <a:pPr>
              <a:spcBef>
                <a:spcPts val="480"/>
              </a:spcBef>
            </a:pPr>
            <a:r>
              <a:rPr lang="en-US" sz="2000" dirty="0"/>
              <a:t>Compare with other approaches such as behaviour trees or Monte Carlo tree search.</a:t>
            </a:r>
          </a:p>
          <a:p>
            <a:pPr>
              <a:spcBef>
                <a:spcPts val="480"/>
              </a:spcBef>
            </a:pPr>
            <a:r>
              <a:rPr lang="en-US" sz="2000" dirty="0"/>
              <a:t>Run systematic gameplay testing with more players.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62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 dirty="0">
                <a:solidFill>
                  <a:srgbClr val="FF0000"/>
                </a:solidFill>
              </a:rPr>
              <a:t>References</a:t>
            </a:r>
            <a:endParaRPr lang="en-IN" sz="32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9900" indent="-469900">
              <a:spcBef>
                <a:spcPts val="500"/>
              </a:spcBef>
              <a:buNone/>
            </a:pPr>
            <a:r>
              <a:rPr lang="en-US" sz="1400" dirty="0"/>
              <a:t>[1] Hart, P. E., Nilsson, N. J., &amp; Raphael, B. (1968). A Formal Basis for the Heuristic Determination of Minimum Cost Paths. IEEE Trans. Systems Science and Cybernetics, 4(2), 100–107. https://doi.org/10.1109/TSSC.1968.300136</a:t>
            </a:r>
          </a:p>
          <a:p>
            <a:pPr marL="469900" indent="-469900">
              <a:spcBef>
                <a:spcPts val="500"/>
              </a:spcBef>
              <a:buNone/>
            </a:pPr>
            <a:r>
              <a:rPr lang="en-US" sz="1400" dirty="0"/>
              <a:t>[2] Rafiq, A., Abdul Kadir, T. A., &amp; Ihsan, S. N. (2020). Pathfinding Algorithms in Game Development. IOP Conf. Ser.: Mater. Sci. Eng., 769, 012021. https://doi.org/10.1088/1757-899X/769/1/012021</a:t>
            </a:r>
          </a:p>
          <a:p>
            <a:pPr marL="469900" indent="-469900">
              <a:spcBef>
                <a:spcPts val="500"/>
              </a:spcBef>
              <a:buNone/>
            </a:pPr>
            <a:r>
              <a:rPr lang="en-US" sz="1400" dirty="0"/>
              <a:t>[3] Jagdale, D. (2021). Finite State Machine in Game Development. IJARSCT. https://doi.org/10.48175/IJARSCT-2062</a:t>
            </a:r>
          </a:p>
          <a:p>
            <a:pPr marL="469900" indent="-469900">
              <a:spcBef>
                <a:spcPts val="500"/>
              </a:spcBef>
              <a:buNone/>
            </a:pPr>
            <a:r>
              <a:rPr lang="en-US" sz="1400" dirty="0"/>
              <a:t>[4] Millington, I., &amp; Funge, J. (2016). Artificial Intelligence for Games (3rd ed.).</a:t>
            </a:r>
          </a:p>
          <a:p>
            <a:pPr marL="469900" indent="-469900">
              <a:spcBef>
                <a:spcPts val="500"/>
              </a:spcBef>
              <a:buNone/>
            </a:pPr>
            <a:r>
              <a:rPr lang="en-US" sz="1400" dirty="0"/>
              <a:t>[5] Orkin, J. (2006). Three States and a Plan: The AI of F.E.A.R. Game Developers Conference.</a:t>
            </a:r>
          </a:p>
          <a:p>
            <a:pPr marL="469900" indent="-469900">
              <a:spcBef>
                <a:spcPts val="500"/>
              </a:spcBef>
              <a:buNone/>
            </a:pPr>
            <a:r>
              <a:rPr lang="en-US" sz="1400" dirty="0"/>
              <a:t>[6] Russell, S., &amp; Norvig, P. (2021). Artificial Intelligence: A Modern Approach (4th ed.). Pearson.</a:t>
            </a:r>
          </a:p>
          <a:p>
            <a:pPr marL="469900" indent="-469900">
              <a:spcBef>
                <a:spcPts val="500"/>
              </a:spcBef>
              <a:buNone/>
            </a:pPr>
            <a:r>
              <a:rPr lang="en-US" sz="1400" dirty="0"/>
              <a:t>[7] Yannakakis, G. N., &amp; Togelius, J. (2018). Artificial Intelligence and Games. Springer. https://doi.org/10.1007/978-3-319-63519-4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DE7F8E-147A-1C48-B5E0-51437A1B8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422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349C-5BE6-7AA1-4EE3-C4AA5A3BB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4F5F3-B604-7034-3991-F0917DEC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420</Words>
  <Application>Microsoft Office PowerPoint</Application>
  <PresentationFormat>Widescreen</PresentationFormat>
  <Paragraphs>108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Calibri</vt:lpstr>
      <vt:lpstr>Times New Roman</vt:lpstr>
      <vt:lpstr>Verdana</vt:lpstr>
      <vt:lpstr>Wingdings</vt:lpstr>
      <vt:lpstr>Profile</vt:lpstr>
      <vt:lpstr>PowerPoint Presentation</vt:lpstr>
      <vt:lpstr>Problem Statement and Motivation</vt:lpstr>
      <vt:lpstr>Objectives</vt:lpstr>
      <vt:lpstr>Abstract</vt:lpstr>
      <vt:lpstr>Literature Survey</vt:lpstr>
      <vt:lpstr>Literature Survey</vt:lpstr>
      <vt:lpstr>Research Gap/Existing System</vt:lpstr>
      <vt:lpstr>Proposed System System</vt:lpstr>
      <vt:lpstr>DFD Diagram</vt:lpstr>
      <vt:lpstr>Methodology/Work Flow Diagram</vt:lpstr>
      <vt:lpstr>Tools and Technologies</vt:lpstr>
      <vt:lpstr>List of Modules</vt:lpstr>
      <vt:lpstr>Module Description(For each Module separately)</vt:lpstr>
      <vt:lpstr>Module Description(For each Module separately)</vt:lpstr>
      <vt:lpstr>Results &amp; Discussion</vt:lpstr>
      <vt:lpstr>User Interface/ Screenshots</vt:lpstr>
      <vt:lpstr>Conclusion</vt:lpstr>
      <vt:lpstr>Future Work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14</cp:revision>
  <dcterms:modified xsi:type="dcterms:W3CDTF">2026-10-13T05:55:04Z</dcterms:modified>
</cp:coreProperties>
</file>